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DM Sans Light"/>
      <p:regular r:id="rId24"/>
      <p:bold r:id="rId25"/>
      <p:italic r:id="rId26"/>
      <p:boldItalic r:id="rId27"/>
    </p:embeddedFont>
    <p:embeddedFont>
      <p:font typeface="Arial Black"/>
      <p:regular r:id="rId28"/>
    </p:embeddedFont>
    <p:embeddedFont>
      <p:font typeface="DM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9A9ACD-881F-4965-A2AE-3B4F089C40DA}">
  <a:tblStyle styleId="{F49A9ACD-881F-4965-A2AE-3B4F089C40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DMSansLight-regular.fntdata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DMSansLight-italic.fntdata"/><Relationship Id="rId25" Type="http://schemas.openxmlformats.org/officeDocument/2006/relationships/font" Target="fonts/DMSansLight-bold.fntdata"/><Relationship Id="rId28" Type="http://schemas.openxmlformats.org/officeDocument/2006/relationships/font" Target="fonts/ArialBlack-regular.fntdata"/><Relationship Id="rId27" Type="http://schemas.openxmlformats.org/officeDocument/2006/relationships/font" Target="fonts/DMSansLight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DMSans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DMSans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86cdefbe2_1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86cdefbe2_1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6cdefbe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86cdefbe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6cdefbe2_1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86cdefbe2_1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86cdefbe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86cdefbe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6cdefbe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86cdefbe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6cdefbe2_9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86cdefbe2_9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86cdefbe2_9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86cdefbe2_9_9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6cdefbe2_1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86cdefbe2_10_50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86cdefbe2_9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86cdefbe2_9_15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86cdefbe2_9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86cdefbe2_9_11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8760b16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8760b16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8760b16f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8760b16f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8760b16f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8760b16f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8760b16f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8760b16f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8760b252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8760b2528_1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8760b16f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8760b16f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20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4" name="Google Shape;94;p20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20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136975" y="796675"/>
            <a:ext cx="4085100" cy="16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Arial"/>
                <a:ea typeface="Arial"/>
                <a:cs typeface="Arial"/>
                <a:sym typeface="Arial"/>
              </a:rPr>
              <a:t>Self Driving Car Racing Game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</p:txBody>
      </p:sp>
      <p:sp>
        <p:nvSpPr>
          <p:cNvPr id="135" name="Google Shape;135;p26"/>
          <p:cNvSpPr txBox="1"/>
          <p:nvPr>
            <p:ph idx="1" type="subTitle"/>
          </p:nvPr>
        </p:nvSpPr>
        <p:spPr>
          <a:xfrm>
            <a:off x="361975" y="122858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CSE440: Introduction to Artificial Intelligence</a:t>
            </a:r>
            <a:endParaRPr/>
          </a:p>
        </p:txBody>
      </p:sp>
      <p:sp>
        <p:nvSpPr>
          <p:cNvPr id="136" name="Google Shape;136;p26"/>
          <p:cNvSpPr txBox="1"/>
          <p:nvPr>
            <p:ph idx="3" type="body"/>
          </p:nvPr>
        </p:nvSpPr>
        <p:spPr>
          <a:xfrm>
            <a:off x="441050" y="2379612"/>
            <a:ext cx="3214800" cy="17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Group 10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Abir Alam 2122236642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Istiaque Khan (??)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Rifa Rahanuma (???)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Mahir Waiz Miel (2232474042)</a:t>
            </a:r>
            <a:endParaRPr sz="700"/>
          </a:p>
        </p:txBody>
      </p:sp>
      <p:sp>
        <p:nvSpPr>
          <p:cNvPr id="137" name="Google Shape;137;p26"/>
          <p:cNvSpPr/>
          <p:nvPr/>
        </p:nvSpPr>
        <p:spPr>
          <a:xfrm rot="-5400516">
            <a:off x="2769651" y="-1167901"/>
            <a:ext cx="5992200" cy="6630600"/>
          </a:xfrm>
          <a:prstGeom prst="rtTriangl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600" y="0"/>
            <a:ext cx="4160401" cy="302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3600" y="2936750"/>
            <a:ext cx="4160401" cy="2206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/>
        </p:nvSpPr>
        <p:spPr>
          <a:xfrm>
            <a:off x="290400" y="1898250"/>
            <a:ext cx="43698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Deep Q-Network Reinforcement learning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Main Goal: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Develop a 2D racing game where an AI-controlled car learns to drive autonomously using </a:t>
            </a:r>
            <a:r>
              <a:rPr b="1" lang="en" sz="1800">
                <a:solidFill>
                  <a:schemeClr val="dk1"/>
                </a:solidFill>
              </a:rPr>
              <a:t>Reinforcement Learning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2100"/>
          </a:p>
        </p:txBody>
      </p:sp>
      <p:sp>
        <p:nvSpPr>
          <p:cNvPr id="146" name="Google Shape;146;p27"/>
          <p:cNvSpPr txBox="1"/>
          <p:nvPr>
            <p:ph idx="2" type="body"/>
          </p:nvPr>
        </p:nvSpPr>
        <p:spPr>
          <a:xfrm>
            <a:off x="4617475" y="1152475"/>
            <a:ext cx="435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Key Objectives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Build a functional 2D racing environment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Allow the AI to observe the track using distance sensors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Train the car using </a:t>
            </a:r>
            <a:r>
              <a:rPr b="1" lang="en">
                <a:solidFill>
                  <a:schemeClr val="dk1"/>
                </a:solidFill>
              </a:rPr>
              <a:t>Deep Q-Network (DQN)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Use rewards and penalties to teach driving behavior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Evaluate the trained agent on different track difficulties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Demonstrate the complete </a:t>
            </a:r>
            <a:r>
              <a:rPr b="1" lang="en">
                <a:solidFill>
                  <a:schemeClr val="dk1"/>
                </a:solidFill>
              </a:rPr>
              <a:t>AI → Environment → Reward → Learning</a:t>
            </a:r>
            <a:r>
              <a:rPr lang="en">
                <a:solidFill>
                  <a:schemeClr val="dk1"/>
                </a:solidFill>
              </a:rPr>
              <a:t> cycle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 rot="-5400512">
            <a:off x="7198198" y="3176900"/>
            <a:ext cx="2015100" cy="1876200"/>
          </a:xfrm>
          <a:prstGeom prst="rtTriangl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28"/>
          <p:cNvSpPr txBox="1"/>
          <p:nvPr>
            <p:ph type="title"/>
          </p:nvPr>
        </p:nvSpPr>
        <p:spPr>
          <a:xfrm>
            <a:off x="4480400" y="255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80"/>
              <a:t>Project Idea and Architecture</a:t>
            </a:r>
            <a:endParaRPr sz="2680"/>
          </a:p>
        </p:txBody>
      </p:sp>
      <p:sp>
        <p:nvSpPr>
          <p:cNvPr id="154" name="Google Shape;154;p28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175" y="149400"/>
            <a:ext cx="3206000" cy="48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/>
        </p:nvSpPr>
        <p:spPr>
          <a:xfrm>
            <a:off x="4304950" y="1148125"/>
            <a:ext cx="40770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The Project is a simple 2D program that uses DQN to teach a car to move on a track on its own.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The goal here is to make a simple enough RL model such that it can run on a normal laptop with no GPU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0780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&amp; Tools</a:t>
            </a:r>
            <a:endParaRPr/>
          </a:p>
        </p:txBody>
      </p:sp>
      <p:graphicFrame>
        <p:nvGraphicFramePr>
          <p:cNvPr id="167" name="Google Shape;167;p30"/>
          <p:cNvGraphicFramePr/>
          <p:nvPr/>
        </p:nvGraphicFramePr>
        <p:xfrm>
          <a:off x="3117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{F49A9ACD-881F-4965-A2AE-3B4F089C40DA}</a:tableStyleId>
              </a:tblPr>
              <a:tblGrid>
                <a:gridCol w="4582025"/>
                <a:gridCol w="3938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Game Engine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Pygame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 Framework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PyTorch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RL Algorithm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Q-Network (DQN)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Graphics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2D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Track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Image-based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CPU-based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Neural Network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/>
        </p:nvSpPr>
        <p:spPr>
          <a:xfrm>
            <a:off x="377200" y="192024"/>
            <a:ext cx="8366983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Agent-Environment Training Loop</a:t>
            </a:r>
            <a:endParaRPr sz="1100"/>
          </a:p>
        </p:txBody>
      </p:sp>
      <p:sp>
        <p:nvSpPr>
          <p:cNvPr id="173" name="Google Shape;173;p31"/>
          <p:cNvSpPr/>
          <p:nvPr/>
        </p:nvSpPr>
        <p:spPr>
          <a:xfrm>
            <a:off x="397775" y="644652"/>
            <a:ext cx="788691" cy="41148"/>
          </a:xfrm>
          <a:prstGeom prst="rect">
            <a:avLst/>
          </a:prstGeom>
          <a:solidFill>
            <a:srgbClr val="3F88C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1"/>
          <p:cNvSpPr txBox="1"/>
          <p:nvPr/>
        </p:nvSpPr>
        <p:spPr>
          <a:xfrm>
            <a:off x="1303055" y="548640"/>
            <a:ext cx="713251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Observe, act, reward, replay, update, repeat</a:t>
            </a:r>
            <a:endParaRPr sz="1100"/>
          </a:p>
        </p:txBody>
      </p:sp>
      <p:pic>
        <p:nvPicPr>
          <p:cNvPr descr="architecture.png" id="175" name="Google Shape;175;p31"/>
          <p:cNvPicPr preferRelativeResize="0"/>
          <p:nvPr/>
        </p:nvPicPr>
        <p:blipFill rotWithShape="1">
          <a:blip r:embed="rId3">
            <a:alphaModFix/>
          </a:blip>
          <a:srcRect b="0" l="0" r="0" t="23389"/>
          <a:stretch/>
        </p:blipFill>
        <p:spPr>
          <a:xfrm>
            <a:off x="325875" y="2634276"/>
            <a:ext cx="8469626" cy="224862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1"/>
          <p:cNvSpPr txBox="1"/>
          <p:nvPr/>
        </p:nvSpPr>
        <p:spPr>
          <a:xfrm>
            <a:off x="8401274" y="4882896"/>
            <a:ext cx="3086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177" name="Google Shape;177;p31"/>
          <p:cNvSpPr txBox="1"/>
          <p:nvPr/>
        </p:nvSpPr>
        <p:spPr>
          <a:xfrm>
            <a:off x="325875" y="1266175"/>
            <a:ext cx="8238300" cy="12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loop reads the current state (Distances of the 5 rays and current speed).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6 parameters are passed through 2 hidden layers and one of 4 outputs is selected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possible outputs are “Left”, “Right”, “Straight” and “Brake”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Reward is computed and network is updated each iteration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1"/>
          <p:cNvSpPr/>
          <p:nvPr/>
        </p:nvSpPr>
        <p:spPr>
          <a:xfrm rot="-5400512">
            <a:off x="7198198" y="3176900"/>
            <a:ext cx="2015100" cy="1876200"/>
          </a:xfrm>
          <a:prstGeom prst="rtTriangl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/>
        </p:nvSpPr>
        <p:spPr>
          <a:xfrm>
            <a:off x="377200" y="192024"/>
            <a:ext cx="8366983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Game Environment</a:t>
            </a:r>
            <a:endParaRPr sz="1100"/>
          </a:p>
        </p:txBody>
      </p:sp>
      <p:sp>
        <p:nvSpPr>
          <p:cNvPr id="184" name="Google Shape;184;p32"/>
          <p:cNvSpPr/>
          <p:nvPr/>
        </p:nvSpPr>
        <p:spPr>
          <a:xfrm>
            <a:off x="397775" y="644652"/>
            <a:ext cx="788691" cy="41148"/>
          </a:xfrm>
          <a:prstGeom prst="rect">
            <a:avLst/>
          </a:prstGeom>
          <a:solidFill>
            <a:srgbClr val="3F88C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asy.png" id="185" name="Google Shape;18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200" y="891540"/>
            <a:ext cx="2708910" cy="180365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2"/>
          <p:cNvSpPr txBox="1"/>
          <p:nvPr/>
        </p:nvSpPr>
        <p:spPr>
          <a:xfrm>
            <a:off x="377200" y="2756915"/>
            <a:ext cx="2708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Easy</a:t>
            </a:r>
            <a:endParaRPr sz="1100"/>
          </a:p>
        </p:txBody>
      </p:sp>
      <p:pic>
        <p:nvPicPr>
          <p:cNvPr descr="medium.png" id="187" name="Google Shape;18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928" y="891540"/>
            <a:ext cx="2708910" cy="180365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 txBox="1"/>
          <p:nvPr/>
        </p:nvSpPr>
        <p:spPr>
          <a:xfrm>
            <a:off x="3291928" y="2756915"/>
            <a:ext cx="2708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sz="1100"/>
          </a:p>
        </p:txBody>
      </p:sp>
      <p:pic>
        <p:nvPicPr>
          <p:cNvPr descr="hard.png" id="189" name="Google Shape;18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6655" y="891540"/>
            <a:ext cx="2708910" cy="180365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2"/>
          <p:cNvSpPr txBox="1"/>
          <p:nvPr/>
        </p:nvSpPr>
        <p:spPr>
          <a:xfrm>
            <a:off x="6206655" y="2756915"/>
            <a:ext cx="2708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Hard</a:t>
            </a:r>
            <a:endParaRPr sz="1100"/>
          </a:p>
        </p:txBody>
      </p:sp>
      <p:sp>
        <p:nvSpPr>
          <p:cNvPr id="191" name="Google Shape;191;p32"/>
          <p:cNvSpPr txBox="1"/>
          <p:nvPr/>
        </p:nvSpPr>
        <p:spPr>
          <a:xfrm>
            <a:off x="514364" y="3154680"/>
            <a:ext cx="82299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82300" spcFirstLastPara="1" rIns="342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</a:t>
            </a:r>
            <a:r>
              <a:rPr lang="en" sz="1300">
                <a:solidFill>
                  <a:srgbClr val="1B2738"/>
                </a:solidFill>
              </a:rPr>
              <a:t>The White road / black wall mask is used for collision and sensors</a:t>
            </a:r>
            <a:endParaRPr sz="1300">
              <a:solidFill>
                <a:srgbClr val="1B27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</a:t>
            </a:r>
            <a:r>
              <a:rPr lang="en" sz="1300">
                <a:solidFill>
                  <a:srgbClr val="1B2738"/>
                </a:solidFill>
              </a:rPr>
              <a:t>Nine car-body probe points represent the car. These points are the corners, edge mid-points and the center.</a:t>
            </a:r>
            <a:endParaRPr sz="1300">
              <a:solidFill>
                <a:srgbClr val="1B27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</a:t>
            </a:r>
            <a:r>
              <a:rPr lang="en" sz="1300">
                <a:solidFill>
                  <a:srgbClr val="1B2738"/>
                </a:solidFill>
              </a:rPr>
              <a:t>720 ordered centerline points and 12 checkpoints. These are used for tracking and laps.</a:t>
            </a:r>
            <a:endParaRPr sz="1300">
              <a:solidFill>
                <a:srgbClr val="1B27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</a:t>
            </a:r>
            <a:r>
              <a:rPr lang="en" sz="1300">
                <a:solidFill>
                  <a:srgbClr val="1B2738"/>
                </a:solidFill>
              </a:rPr>
              <a:t>Position, speed, heading, steering, acceleration, braking and friction comprise the vehicle physics.</a:t>
            </a:r>
            <a:endParaRPr sz="1300">
              <a:solidFill>
                <a:srgbClr val="1B2738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B2738"/>
              </a:solidFill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8401274" y="4882896"/>
            <a:ext cx="3086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193" name="Google Shape;193;p32"/>
          <p:cNvSpPr/>
          <p:nvPr/>
        </p:nvSpPr>
        <p:spPr>
          <a:xfrm rot="-5400512">
            <a:off x="7198198" y="3176900"/>
            <a:ext cx="2015100" cy="1876200"/>
          </a:xfrm>
          <a:prstGeom prst="rtTriangl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/>
        </p:nvSpPr>
        <p:spPr>
          <a:xfrm>
            <a:off x="377200" y="192024"/>
            <a:ext cx="8367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82B45"/>
                </a:solidFill>
              </a:rPr>
              <a:t>State Representation and Input Vector</a:t>
            </a:r>
            <a:endParaRPr sz="1100"/>
          </a:p>
        </p:txBody>
      </p:sp>
      <p:sp>
        <p:nvSpPr>
          <p:cNvPr id="199" name="Google Shape;199;p33"/>
          <p:cNvSpPr/>
          <p:nvPr/>
        </p:nvSpPr>
        <p:spPr>
          <a:xfrm>
            <a:off x="397775" y="644652"/>
            <a:ext cx="788700" cy="41100"/>
          </a:xfrm>
          <a:prstGeom prst="rect">
            <a:avLst/>
          </a:prstGeom>
          <a:solidFill>
            <a:srgbClr val="3F88C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8401274" y="4882896"/>
            <a:ext cx="3087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201" name="Google Shape;201;p33"/>
          <p:cNvSpPr/>
          <p:nvPr/>
        </p:nvSpPr>
        <p:spPr>
          <a:xfrm rot="-5400512">
            <a:off x="7198198" y="3176900"/>
            <a:ext cx="2015100" cy="1876200"/>
          </a:xfrm>
          <a:prstGeom prst="rtTriangl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2" name="Google Shape;202;p33"/>
          <p:cNvPicPr preferRelativeResize="0"/>
          <p:nvPr/>
        </p:nvPicPr>
        <p:blipFill rotWithShape="1">
          <a:blip r:embed="rId3">
            <a:alphaModFix/>
          </a:blip>
          <a:srcRect b="10035" l="3211" r="63342" t="43356"/>
          <a:stretch/>
        </p:blipFill>
        <p:spPr>
          <a:xfrm>
            <a:off x="161450" y="838750"/>
            <a:ext cx="2652305" cy="20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 txBox="1"/>
          <p:nvPr/>
        </p:nvSpPr>
        <p:spPr>
          <a:xfrm>
            <a:off x="4216025" y="702000"/>
            <a:ext cx="4986000" cy="3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Five Ray Distances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-90°, -45°, 0°, +45°, +90° rays are used to calculate the distances from the mask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F88C5"/>
                </a:solidFill>
                <a:latin typeface="Calibri"/>
                <a:ea typeface="Calibri"/>
                <a:cs typeface="Calibri"/>
                <a:sym typeface="Calibri"/>
              </a:rPr>
              <a:t>Data Normalization</a:t>
            </a:r>
            <a:endParaRPr b="1" sz="1800">
              <a:solidFill>
                <a:srgbClr val="3F88C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Normalized to 0 or 1 binary.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Ray Distance / Maximum Range (Will hit/Will not hit)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Speed / Maximum Speed (Moving/ Not moving)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State Vector (Inputs)</a:t>
            </a:r>
            <a:endParaRPr b="1" sz="180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6-state vector after normalization: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[left, front_left, front, front_right, right, speed]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66778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33"/>
          <p:cNvPicPr preferRelativeResize="0"/>
          <p:nvPr/>
        </p:nvPicPr>
        <p:blipFill rotWithShape="1">
          <a:blip r:embed="rId3">
            <a:alphaModFix/>
          </a:blip>
          <a:srcRect b="0" l="75061" r="0" t="0"/>
          <a:stretch/>
        </p:blipFill>
        <p:spPr>
          <a:xfrm>
            <a:off x="2582775" y="1105073"/>
            <a:ext cx="1633249" cy="3570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/>
        </p:nvSpPr>
        <p:spPr>
          <a:xfrm>
            <a:off x="377200" y="192024"/>
            <a:ext cx="8366983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Deep Q-Network</a:t>
            </a:r>
            <a:endParaRPr sz="1100"/>
          </a:p>
        </p:txBody>
      </p:sp>
      <p:sp>
        <p:nvSpPr>
          <p:cNvPr id="210" name="Google Shape;210;p34"/>
          <p:cNvSpPr/>
          <p:nvPr/>
        </p:nvSpPr>
        <p:spPr>
          <a:xfrm>
            <a:off x="397775" y="644652"/>
            <a:ext cx="788691" cy="41148"/>
          </a:xfrm>
          <a:prstGeom prst="rect">
            <a:avLst/>
          </a:prstGeom>
          <a:solidFill>
            <a:srgbClr val="3F88C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4"/>
          <p:cNvSpPr/>
          <p:nvPr/>
        </p:nvSpPr>
        <p:spPr>
          <a:xfrm>
            <a:off x="514364" y="1200150"/>
            <a:ext cx="1611673" cy="994410"/>
          </a:xfrm>
          <a:prstGeom prst="roundRect">
            <a:avLst>
              <a:gd fmla="val 16667" name="adj"/>
            </a:avLst>
          </a:prstGeom>
          <a:solidFill>
            <a:srgbClr val="3F88C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4"/>
          <p:cNvSpPr txBox="1"/>
          <p:nvPr/>
        </p:nvSpPr>
        <p:spPr>
          <a:xfrm>
            <a:off x="596662" y="1392173"/>
            <a:ext cx="14402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100"/>
          </a:p>
        </p:txBody>
      </p:sp>
      <p:sp>
        <p:nvSpPr>
          <p:cNvPr id="213" name="Google Shape;213;p34"/>
          <p:cNvSpPr txBox="1"/>
          <p:nvPr/>
        </p:nvSpPr>
        <p:spPr>
          <a:xfrm>
            <a:off x="596662" y="1714500"/>
            <a:ext cx="14402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AEBF9"/>
                </a:solidFill>
                <a:latin typeface="Arial"/>
                <a:ea typeface="Arial"/>
                <a:cs typeface="Arial"/>
                <a:sym typeface="Arial"/>
              </a:rPr>
              <a:t>6 values</a:t>
            </a:r>
            <a:endParaRPr sz="1100"/>
          </a:p>
        </p:txBody>
      </p:sp>
      <p:sp>
        <p:nvSpPr>
          <p:cNvPr id="214" name="Google Shape;214;p34"/>
          <p:cNvSpPr/>
          <p:nvPr/>
        </p:nvSpPr>
        <p:spPr>
          <a:xfrm>
            <a:off x="2215193" y="1529334"/>
            <a:ext cx="377200" cy="308610"/>
          </a:xfrm>
          <a:prstGeom prst="chevron">
            <a:avLst>
              <a:gd fmla="val 50000" name="adj"/>
            </a:avLst>
          </a:prstGeom>
          <a:solidFill>
            <a:srgbClr val="6677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4"/>
          <p:cNvSpPr/>
          <p:nvPr/>
        </p:nvSpPr>
        <p:spPr>
          <a:xfrm>
            <a:off x="2571819" y="1200150"/>
            <a:ext cx="1611673" cy="994410"/>
          </a:xfrm>
          <a:prstGeom prst="roundRect">
            <a:avLst>
              <a:gd fmla="val 16667" name="adj"/>
            </a:avLst>
          </a:prstGeom>
          <a:solidFill>
            <a:srgbClr val="182B4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4"/>
          <p:cNvSpPr txBox="1"/>
          <p:nvPr/>
        </p:nvSpPr>
        <p:spPr>
          <a:xfrm>
            <a:off x="2654117" y="1392173"/>
            <a:ext cx="14402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Hidden</a:t>
            </a:r>
            <a:endParaRPr sz="1100"/>
          </a:p>
        </p:txBody>
      </p:sp>
      <p:sp>
        <p:nvSpPr>
          <p:cNvPr id="217" name="Google Shape;217;p34"/>
          <p:cNvSpPr txBox="1"/>
          <p:nvPr/>
        </p:nvSpPr>
        <p:spPr>
          <a:xfrm>
            <a:off x="2654117" y="1714500"/>
            <a:ext cx="14402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AEBF9"/>
                </a:solidFill>
                <a:latin typeface="Arial"/>
                <a:ea typeface="Arial"/>
                <a:cs typeface="Arial"/>
                <a:sym typeface="Arial"/>
              </a:rPr>
              <a:t>64 ReLU</a:t>
            </a:r>
            <a:endParaRPr sz="1100"/>
          </a:p>
        </p:txBody>
      </p:sp>
      <p:sp>
        <p:nvSpPr>
          <p:cNvPr id="218" name="Google Shape;218;p34"/>
          <p:cNvSpPr/>
          <p:nvPr/>
        </p:nvSpPr>
        <p:spPr>
          <a:xfrm>
            <a:off x="4272648" y="1529334"/>
            <a:ext cx="377200" cy="308610"/>
          </a:xfrm>
          <a:prstGeom prst="chevron">
            <a:avLst>
              <a:gd fmla="val 50000" name="adj"/>
            </a:avLst>
          </a:prstGeom>
          <a:solidFill>
            <a:srgbClr val="6677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4"/>
          <p:cNvSpPr/>
          <p:nvPr/>
        </p:nvSpPr>
        <p:spPr>
          <a:xfrm>
            <a:off x="4629273" y="1200150"/>
            <a:ext cx="1611673" cy="994410"/>
          </a:xfrm>
          <a:prstGeom prst="roundRect">
            <a:avLst>
              <a:gd fmla="val 16667" name="adj"/>
            </a:avLst>
          </a:prstGeom>
          <a:solidFill>
            <a:srgbClr val="182B4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4"/>
          <p:cNvSpPr txBox="1"/>
          <p:nvPr/>
        </p:nvSpPr>
        <p:spPr>
          <a:xfrm>
            <a:off x="4711572" y="1392173"/>
            <a:ext cx="14402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Hidden</a:t>
            </a:r>
            <a:endParaRPr sz="1100"/>
          </a:p>
        </p:txBody>
      </p:sp>
      <p:sp>
        <p:nvSpPr>
          <p:cNvPr id="221" name="Google Shape;221;p34"/>
          <p:cNvSpPr txBox="1"/>
          <p:nvPr/>
        </p:nvSpPr>
        <p:spPr>
          <a:xfrm>
            <a:off x="4711572" y="1714500"/>
            <a:ext cx="14402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AEBF9"/>
                </a:solidFill>
                <a:latin typeface="Arial"/>
                <a:ea typeface="Arial"/>
                <a:cs typeface="Arial"/>
                <a:sym typeface="Arial"/>
              </a:rPr>
              <a:t>64 ReLU</a:t>
            </a:r>
            <a:endParaRPr sz="1100"/>
          </a:p>
        </p:txBody>
      </p:sp>
      <p:sp>
        <p:nvSpPr>
          <p:cNvPr id="222" name="Google Shape;222;p34"/>
          <p:cNvSpPr/>
          <p:nvPr/>
        </p:nvSpPr>
        <p:spPr>
          <a:xfrm>
            <a:off x="6330103" y="1529334"/>
            <a:ext cx="377200" cy="308610"/>
          </a:xfrm>
          <a:prstGeom prst="chevron">
            <a:avLst>
              <a:gd fmla="val 50000" name="adj"/>
            </a:avLst>
          </a:prstGeom>
          <a:solidFill>
            <a:srgbClr val="6677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4"/>
          <p:cNvSpPr/>
          <p:nvPr/>
        </p:nvSpPr>
        <p:spPr>
          <a:xfrm>
            <a:off x="6686728" y="1200150"/>
            <a:ext cx="1611673" cy="994410"/>
          </a:xfrm>
          <a:prstGeom prst="roundRect">
            <a:avLst>
              <a:gd fmla="val 16667" name="adj"/>
            </a:avLst>
          </a:prstGeom>
          <a:solidFill>
            <a:srgbClr val="3F88C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6769026" y="1392173"/>
            <a:ext cx="14402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100"/>
          </a:p>
        </p:txBody>
      </p:sp>
      <p:sp>
        <p:nvSpPr>
          <p:cNvPr id="225" name="Google Shape;225;p34"/>
          <p:cNvSpPr txBox="1"/>
          <p:nvPr/>
        </p:nvSpPr>
        <p:spPr>
          <a:xfrm>
            <a:off x="6769026" y="1714500"/>
            <a:ext cx="14402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AEBF9"/>
                </a:solidFill>
                <a:latin typeface="Arial"/>
                <a:ea typeface="Arial"/>
                <a:cs typeface="Arial"/>
                <a:sym typeface="Arial"/>
              </a:rPr>
              <a:t>4 Q-values</a:t>
            </a:r>
            <a:endParaRPr sz="1100"/>
          </a:p>
        </p:txBody>
      </p:sp>
      <p:sp>
        <p:nvSpPr>
          <p:cNvPr id="226" name="Google Shape;226;p34"/>
          <p:cNvSpPr txBox="1"/>
          <p:nvPr/>
        </p:nvSpPr>
        <p:spPr>
          <a:xfrm>
            <a:off x="720109" y="2571750"/>
            <a:ext cx="77496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82300" spcFirstLastPara="1" rIns="342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B2738"/>
                </a:solidFill>
              </a:rPr>
              <a:t>Experience replay: Random mini-batches from stored transitions</a:t>
            </a:r>
            <a:endParaRPr sz="1500">
              <a:solidFill>
                <a:srgbClr val="1B27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B2738"/>
                </a:solidFill>
              </a:rPr>
              <a:t>Target network: slower-moving Bellman target</a:t>
            </a:r>
            <a:endParaRPr sz="1500">
              <a:solidFill>
                <a:srgbClr val="1B27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B2738"/>
                </a:solidFill>
              </a:rPr>
              <a:t>Double DQN target selection by default to reduce Q-value over estimation</a:t>
            </a:r>
            <a:endParaRPr sz="1500">
              <a:solidFill>
                <a:srgbClr val="1B27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B2738"/>
                </a:solidFill>
              </a:rPr>
              <a:t>Huber loss + Adam + gradient clipping to prevent one bad transition from ruining the training</a:t>
            </a:r>
            <a:endParaRPr sz="1500">
              <a:solidFill>
                <a:srgbClr val="1B27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B2738"/>
                </a:solidFill>
              </a:rPr>
              <a:t>Hyperparameters: Gamma = 0.99; epsilon 1.00 -&gt; 0.05 (Linear decay)</a:t>
            </a:r>
            <a:endParaRPr sz="1500">
              <a:solidFill>
                <a:srgbClr val="1B2738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2738"/>
              </a:solidFill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8401274" y="4882896"/>
            <a:ext cx="3086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/>
          </a:p>
        </p:txBody>
      </p:sp>
      <p:sp>
        <p:nvSpPr>
          <p:cNvPr id="228" name="Google Shape;228;p34"/>
          <p:cNvSpPr/>
          <p:nvPr/>
        </p:nvSpPr>
        <p:spPr>
          <a:xfrm rot="-5400512">
            <a:off x="7198198" y="3176900"/>
            <a:ext cx="2015100" cy="1876200"/>
          </a:xfrm>
          <a:prstGeom prst="rtTriangl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/>
          <p:nvPr/>
        </p:nvSpPr>
        <p:spPr>
          <a:xfrm rot="-5400512">
            <a:off x="7198198" y="3176900"/>
            <a:ext cx="2015100" cy="1876200"/>
          </a:xfrm>
          <a:prstGeom prst="rtTriangl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35"/>
          <p:cNvSpPr txBox="1"/>
          <p:nvPr/>
        </p:nvSpPr>
        <p:spPr>
          <a:xfrm>
            <a:off x="377200" y="192024"/>
            <a:ext cx="8367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Actions and Reward</a:t>
            </a:r>
            <a:r>
              <a:rPr b="1" lang="en" sz="2100">
                <a:solidFill>
                  <a:srgbClr val="182B45"/>
                </a:solidFill>
              </a:rPr>
              <a:t> system</a:t>
            </a:r>
            <a:endParaRPr sz="1100"/>
          </a:p>
        </p:txBody>
      </p:sp>
      <p:sp>
        <p:nvSpPr>
          <p:cNvPr id="235" name="Google Shape;235;p35"/>
          <p:cNvSpPr/>
          <p:nvPr/>
        </p:nvSpPr>
        <p:spPr>
          <a:xfrm>
            <a:off x="397775" y="644652"/>
            <a:ext cx="788691" cy="41148"/>
          </a:xfrm>
          <a:prstGeom prst="rect">
            <a:avLst/>
          </a:prstGeom>
          <a:solidFill>
            <a:srgbClr val="3F88C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1303055" y="548640"/>
            <a:ext cx="713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37" name="Google Shape;237;p35"/>
          <p:cNvSpPr/>
          <p:nvPr/>
        </p:nvSpPr>
        <p:spPr>
          <a:xfrm>
            <a:off x="445782" y="946404"/>
            <a:ext cx="1817418" cy="685800"/>
          </a:xfrm>
          <a:prstGeom prst="roundRect">
            <a:avLst>
              <a:gd fmla="val 16667" name="adj"/>
            </a:avLst>
          </a:prstGeom>
          <a:solidFill>
            <a:srgbClr val="182B4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5"/>
          <p:cNvSpPr txBox="1"/>
          <p:nvPr/>
        </p:nvSpPr>
        <p:spPr>
          <a:xfrm>
            <a:off x="528080" y="1062990"/>
            <a:ext cx="3086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97CD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/>
          </a:p>
        </p:txBody>
      </p:sp>
      <p:sp>
        <p:nvSpPr>
          <p:cNvPr id="239" name="Google Shape;239;p35"/>
          <p:cNvSpPr txBox="1"/>
          <p:nvPr/>
        </p:nvSpPr>
        <p:spPr>
          <a:xfrm>
            <a:off x="870989" y="1097280"/>
            <a:ext cx="12687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Turn left</a:t>
            </a:r>
            <a:endParaRPr sz="1100"/>
          </a:p>
        </p:txBody>
      </p:sp>
      <p:sp>
        <p:nvSpPr>
          <p:cNvPr id="240" name="Google Shape;240;p35"/>
          <p:cNvSpPr/>
          <p:nvPr/>
        </p:nvSpPr>
        <p:spPr>
          <a:xfrm>
            <a:off x="2585535" y="946404"/>
            <a:ext cx="1817418" cy="685800"/>
          </a:xfrm>
          <a:prstGeom prst="roundRect">
            <a:avLst>
              <a:gd fmla="val 16667" name="adj"/>
            </a:avLst>
          </a:prstGeom>
          <a:solidFill>
            <a:srgbClr val="182B4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2667833" y="1062990"/>
            <a:ext cx="3086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97CD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242" name="Google Shape;242;p35"/>
          <p:cNvSpPr txBox="1"/>
          <p:nvPr/>
        </p:nvSpPr>
        <p:spPr>
          <a:xfrm>
            <a:off x="3010742" y="1097280"/>
            <a:ext cx="12687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Turn right</a:t>
            </a:r>
            <a:endParaRPr sz="1100"/>
          </a:p>
        </p:txBody>
      </p:sp>
      <p:sp>
        <p:nvSpPr>
          <p:cNvPr id="243" name="Google Shape;243;p35"/>
          <p:cNvSpPr/>
          <p:nvPr/>
        </p:nvSpPr>
        <p:spPr>
          <a:xfrm>
            <a:off x="4725288" y="946404"/>
            <a:ext cx="1817418" cy="685800"/>
          </a:xfrm>
          <a:prstGeom prst="roundRect">
            <a:avLst>
              <a:gd fmla="val 16667" name="adj"/>
            </a:avLst>
          </a:prstGeom>
          <a:solidFill>
            <a:srgbClr val="182B4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5"/>
          <p:cNvSpPr txBox="1"/>
          <p:nvPr/>
        </p:nvSpPr>
        <p:spPr>
          <a:xfrm>
            <a:off x="4807586" y="1062990"/>
            <a:ext cx="3086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97CD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245" name="Google Shape;245;p35"/>
          <p:cNvSpPr txBox="1"/>
          <p:nvPr/>
        </p:nvSpPr>
        <p:spPr>
          <a:xfrm>
            <a:off x="5150495" y="1097280"/>
            <a:ext cx="12687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 straight</a:t>
            </a:r>
            <a:endParaRPr sz="1100"/>
          </a:p>
        </p:txBody>
      </p:sp>
      <p:sp>
        <p:nvSpPr>
          <p:cNvPr id="246" name="Google Shape;246;p35"/>
          <p:cNvSpPr/>
          <p:nvPr/>
        </p:nvSpPr>
        <p:spPr>
          <a:xfrm>
            <a:off x="6865041" y="946404"/>
            <a:ext cx="1817418" cy="685800"/>
          </a:xfrm>
          <a:prstGeom prst="roundRect">
            <a:avLst>
              <a:gd fmla="val 16667" name="adj"/>
            </a:avLst>
          </a:prstGeom>
          <a:solidFill>
            <a:srgbClr val="182B4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5"/>
          <p:cNvSpPr txBox="1"/>
          <p:nvPr/>
        </p:nvSpPr>
        <p:spPr>
          <a:xfrm>
            <a:off x="6947339" y="1062990"/>
            <a:ext cx="3086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97CDF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248" name="Google Shape;248;p35"/>
          <p:cNvSpPr txBox="1"/>
          <p:nvPr/>
        </p:nvSpPr>
        <p:spPr>
          <a:xfrm>
            <a:off x="7290248" y="1097280"/>
            <a:ext cx="12687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Brake</a:t>
            </a:r>
            <a:endParaRPr sz="1100"/>
          </a:p>
        </p:txBody>
      </p:sp>
      <p:sp>
        <p:nvSpPr>
          <p:cNvPr id="249" name="Google Shape;249;p35"/>
          <p:cNvSpPr/>
          <p:nvPr/>
        </p:nvSpPr>
        <p:spPr>
          <a:xfrm>
            <a:off x="582946" y="1954530"/>
            <a:ext cx="3806291" cy="644652"/>
          </a:xfrm>
          <a:prstGeom prst="roundRect">
            <a:avLst>
              <a:gd fmla="val 16667" name="adj"/>
            </a:avLst>
          </a:prstGeom>
          <a:solidFill>
            <a:srgbClr val="ECF3F9"/>
          </a:solidFill>
          <a:ln cap="flat" cmpd="sng" w="9525">
            <a:solidFill>
              <a:srgbClr val="C9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5"/>
          <p:cNvSpPr/>
          <p:nvPr/>
        </p:nvSpPr>
        <p:spPr>
          <a:xfrm>
            <a:off x="582946" y="1954530"/>
            <a:ext cx="54865" cy="644652"/>
          </a:xfrm>
          <a:prstGeom prst="rect">
            <a:avLst/>
          </a:prstGeom>
          <a:solidFill>
            <a:srgbClr val="41A4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5"/>
          <p:cNvSpPr txBox="1"/>
          <p:nvPr/>
        </p:nvSpPr>
        <p:spPr>
          <a:xfrm>
            <a:off x="733826" y="2050542"/>
            <a:ext cx="35662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Driving forward</a:t>
            </a:r>
            <a:endParaRPr sz="1100"/>
          </a:p>
        </p:txBody>
      </p:sp>
      <p:sp>
        <p:nvSpPr>
          <p:cNvPr id="252" name="Google Shape;252;p35"/>
          <p:cNvSpPr txBox="1"/>
          <p:nvPr/>
        </p:nvSpPr>
        <p:spPr>
          <a:xfrm>
            <a:off x="733826" y="2331720"/>
            <a:ext cx="3566255" cy="2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sz="1100"/>
          </a:p>
        </p:txBody>
      </p:sp>
      <p:sp>
        <p:nvSpPr>
          <p:cNvPr id="253" name="Google Shape;253;p35"/>
          <p:cNvSpPr/>
          <p:nvPr/>
        </p:nvSpPr>
        <p:spPr>
          <a:xfrm>
            <a:off x="582886" y="3394693"/>
            <a:ext cx="3806400" cy="644700"/>
          </a:xfrm>
          <a:prstGeom prst="roundRect">
            <a:avLst>
              <a:gd fmla="val 16667" name="adj"/>
            </a:avLst>
          </a:prstGeom>
          <a:solidFill>
            <a:srgbClr val="ECF3F9"/>
          </a:solidFill>
          <a:ln cap="flat" cmpd="sng" w="9525">
            <a:solidFill>
              <a:srgbClr val="C9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5"/>
          <p:cNvSpPr/>
          <p:nvPr/>
        </p:nvSpPr>
        <p:spPr>
          <a:xfrm>
            <a:off x="582886" y="3394693"/>
            <a:ext cx="54900" cy="644700"/>
          </a:xfrm>
          <a:prstGeom prst="rect">
            <a:avLst/>
          </a:prstGeom>
          <a:solidFill>
            <a:srgbClr val="41A4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733766" y="3490705"/>
            <a:ext cx="35664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Checkpoint</a:t>
            </a:r>
            <a:endParaRPr sz="1100"/>
          </a:p>
        </p:txBody>
      </p:sp>
      <p:sp>
        <p:nvSpPr>
          <p:cNvPr id="256" name="Google Shape;256;p35"/>
          <p:cNvSpPr txBox="1"/>
          <p:nvPr/>
        </p:nvSpPr>
        <p:spPr>
          <a:xfrm>
            <a:off x="733766" y="3771883"/>
            <a:ext cx="3566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+20</a:t>
            </a:r>
            <a:endParaRPr sz="1100"/>
          </a:p>
        </p:txBody>
      </p:sp>
      <p:sp>
        <p:nvSpPr>
          <p:cNvPr id="257" name="Google Shape;257;p35"/>
          <p:cNvSpPr/>
          <p:nvPr/>
        </p:nvSpPr>
        <p:spPr>
          <a:xfrm>
            <a:off x="582946" y="2681478"/>
            <a:ext cx="3806291" cy="644652"/>
          </a:xfrm>
          <a:prstGeom prst="roundRect">
            <a:avLst>
              <a:gd fmla="val 16667" name="adj"/>
            </a:avLst>
          </a:prstGeom>
          <a:solidFill>
            <a:srgbClr val="ECF3F9"/>
          </a:solidFill>
          <a:ln cap="flat" cmpd="sng" w="9525">
            <a:solidFill>
              <a:srgbClr val="C9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5"/>
          <p:cNvSpPr/>
          <p:nvPr/>
        </p:nvSpPr>
        <p:spPr>
          <a:xfrm>
            <a:off x="582946" y="2681478"/>
            <a:ext cx="54865" cy="644652"/>
          </a:xfrm>
          <a:prstGeom prst="rect">
            <a:avLst/>
          </a:prstGeom>
          <a:solidFill>
            <a:srgbClr val="41A4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733826" y="2777490"/>
            <a:ext cx="35662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Lap complete</a:t>
            </a:r>
            <a:endParaRPr sz="1100"/>
          </a:p>
        </p:txBody>
      </p:sp>
      <p:sp>
        <p:nvSpPr>
          <p:cNvPr id="260" name="Google Shape;260;p35"/>
          <p:cNvSpPr txBox="1"/>
          <p:nvPr/>
        </p:nvSpPr>
        <p:spPr>
          <a:xfrm>
            <a:off x="733826" y="3058668"/>
            <a:ext cx="3566255" cy="2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+100</a:t>
            </a:r>
            <a:endParaRPr sz="1100"/>
          </a:p>
        </p:txBody>
      </p:sp>
      <p:sp>
        <p:nvSpPr>
          <p:cNvPr id="261" name="Google Shape;261;p35"/>
          <p:cNvSpPr/>
          <p:nvPr/>
        </p:nvSpPr>
        <p:spPr>
          <a:xfrm>
            <a:off x="4766436" y="2681478"/>
            <a:ext cx="3806291" cy="644652"/>
          </a:xfrm>
          <a:prstGeom prst="roundRect">
            <a:avLst>
              <a:gd fmla="val 16667" name="adj"/>
            </a:avLst>
          </a:prstGeom>
          <a:solidFill>
            <a:srgbClr val="ECF3F9"/>
          </a:solidFill>
          <a:ln cap="flat" cmpd="sng" w="9525">
            <a:solidFill>
              <a:srgbClr val="C9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4766436" y="2681478"/>
            <a:ext cx="54865" cy="644652"/>
          </a:xfrm>
          <a:prstGeom prst="rect">
            <a:avLst/>
          </a:prstGeom>
          <a:solidFill>
            <a:srgbClr val="D24A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4917316" y="2777490"/>
            <a:ext cx="35662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Collision</a:t>
            </a:r>
            <a:endParaRPr sz="1100"/>
          </a:p>
        </p:txBody>
      </p:sp>
      <p:sp>
        <p:nvSpPr>
          <p:cNvPr id="264" name="Google Shape;264;p35"/>
          <p:cNvSpPr txBox="1"/>
          <p:nvPr/>
        </p:nvSpPr>
        <p:spPr>
          <a:xfrm>
            <a:off x="4917316" y="3058668"/>
            <a:ext cx="3566255" cy="2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-100</a:t>
            </a:r>
            <a:endParaRPr sz="1100"/>
          </a:p>
        </p:txBody>
      </p:sp>
      <p:sp>
        <p:nvSpPr>
          <p:cNvPr id="265" name="Google Shape;265;p35"/>
          <p:cNvSpPr/>
          <p:nvPr/>
        </p:nvSpPr>
        <p:spPr>
          <a:xfrm>
            <a:off x="4766433" y="2023114"/>
            <a:ext cx="3806400" cy="644700"/>
          </a:xfrm>
          <a:prstGeom prst="roundRect">
            <a:avLst>
              <a:gd fmla="val 16667" name="adj"/>
            </a:avLst>
          </a:prstGeom>
          <a:solidFill>
            <a:srgbClr val="ECF3F9"/>
          </a:solidFill>
          <a:ln cap="flat" cmpd="sng" w="9525">
            <a:solidFill>
              <a:srgbClr val="C9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4766433" y="2023114"/>
            <a:ext cx="54900" cy="644700"/>
          </a:xfrm>
          <a:prstGeom prst="rect">
            <a:avLst/>
          </a:prstGeom>
          <a:solidFill>
            <a:srgbClr val="D24A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4917313" y="2119126"/>
            <a:ext cx="35664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Driving backwards</a:t>
            </a:r>
            <a:endParaRPr sz="1100"/>
          </a:p>
        </p:txBody>
      </p:sp>
      <p:sp>
        <p:nvSpPr>
          <p:cNvPr id="268" name="Google Shape;268;p35"/>
          <p:cNvSpPr txBox="1"/>
          <p:nvPr/>
        </p:nvSpPr>
        <p:spPr>
          <a:xfrm>
            <a:off x="4917313" y="2400304"/>
            <a:ext cx="3566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-10</a:t>
            </a:r>
            <a:endParaRPr sz="1100"/>
          </a:p>
        </p:txBody>
      </p:sp>
      <p:sp>
        <p:nvSpPr>
          <p:cNvPr id="269" name="Google Shape;269;p35"/>
          <p:cNvSpPr/>
          <p:nvPr/>
        </p:nvSpPr>
        <p:spPr>
          <a:xfrm>
            <a:off x="4766436" y="3408426"/>
            <a:ext cx="3806291" cy="644652"/>
          </a:xfrm>
          <a:prstGeom prst="roundRect">
            <a:avLst>
              <a:gd fmla="val 16667" name="adj"/>
            </a:avLst>
          </a:prstGeom>
          <a:solidFill>
            <a:srgbClr val="ECF3F9"/>
          </a:solidFill>
          <a:ln cap="flat" cmpd="sng" w="9525">
            <a:solidFill>
              <a:srgbClr val="C9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4766436" y="3408426"/>
            <a:ext cx="54865" cy="644652"/>
          </a:xfrm>
          <a:prstGeom prst="rect">
            <a:avLst/>
          </a:prstGeom>
          <a:solidFill>
            <a:srgbClr val="D24A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4917316" y="3504438"/>
            <a:ext cx="35662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82B45"/>
                </a:solidFill>
                <a:latin typeface="Arial"/>
                <a:ea typeface="Arial"/>
                <a:cs typeface="Arial"/>
                <a:sym typeface="Arial"/>
              </a:rPr>
              <a:t>Standing still</a:t>
            </a:r>
            <a:endParaRPr sz="1100"/>
          </a:p>
        </p:txBody>
      </p:sp>
      <p:sp>
        <p:nvSpPr>
          <p:cNvPr id="272" name="Google Shape;272;p35"/>
          <p:cNvSpPr txBox="1"/>
          <p:nvPr/>
        </p:nvSpPr>
        <p:spPr>
          <a:xfrm>
            <a:off x="4917316" y="3785616"/>
            <a:ext cx="3566255" cy="2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sz="1100"/>
          </a:p>
        </p:txBody>
      </p:sp>
      <p:sp>
        <p:nvSpPr>
          <p:cNvPr id="273" name="Google Shape;273;p35"/>
          <p:cNvSpPr txBox="1"/>
          <p:nvPr/>
        </p:nvSpPr>
        <p:spPr>
          <a:xfrm>
            <a:off x="8401274" y="4882896"/>
            <a:ext cx="3086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778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/>
        </p:nvSpPr>
        <p:spPr>
          <a:xfrm>
            <a:off x="1303150" y="677625"/>
            <a:ext cx="6874500" cy="3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RESULTS</a:t>
            </a:r>
            <a:endParaRPr sz="9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7" title="Screenshot From 2026-08-27 00-48-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97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8" title="Screenshot From 2026-08-26 23-17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9" title="Screenshot From 2026-08-26 21-40-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2B45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 txBox="1"/>
          <p:nvPr/>
        </p:nvSpPr>
        <p:spPr>
          <a:xfrm>
            <a:off x="514364" y="466344"/>
            <a:ext cx="356625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97CDF6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100"/>
          </a:p>
        </p:txBody>
      </p:sp>
      <p:sp>
        <p:nvSpPr>
          <p:cNvPr id="299" name="Google Shape;299;p40"/>
          <p:cNvSpPr txBox="1"/>
          <p:nvPr/>
        </p:nvSpPr>
        <p:spPr>
          <a:xfrm>
            <a:off x="514364" y="1062990"/>
            <a:ext cx="486931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complete, explainable, CPU-friendly</a:t>
            </a:r>
            <a:b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reinforcement-learning project</a:t>
            </a:r>
            <a:endParaRPr sz="1100"/>
          </a:p>
        </p:txBody>
      </p:sp>
      <p:sp>
        <p:nvSpPr>
          <p:cNvPr id="300" name="Google Shape;300;p40"/>
          <p:cNvSpPr txBox="1"/>
          <p:nvPr/>
        </p:nvSpPr>
        <p:spPr>
          <a:xfrm>
            <a:off x="562371" y="2160270"/>
            <a:ext cx="486931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82300" spcFirstLastPara="1" rIns="342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CF3F9"/>
                </a:solidFill>
                <a:latin typeface="Arial"/>
                <a:ea typeface="Arial"/>
                <a:cs typeface="Arial"/>
                <a:sym typeface="Arial"/>
              </a:rPr>
              <a:t>Full state -&gt; action -&gt; reward -&gt; replay -&gt; update pipeline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CF3F9"/>
                </a:solidFill>
                <a:latin typeface="Arial"/>
                <a:ea typeface="Arial"/>
                <a:cs typeface="Arial"/>
                <a:sym typeface="Arial"/>
              </a:rPr>
              <a:t>Validated checkpoints complete Easy, Medium, and Hard from their standard starts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CF3F9"/>
                </a:solidFill>
                <a:latin typeface="Arial"/>
                <a:ea typeface="Arial"/>
                <a:cs typeface="Arial"/>
                <a:sym typeface="Arial"/>
              </a:rPr>
              <a:t>Interactive Pygame app plus headless training/evaluation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CF3F9"/>
                </a:solidFill>
                <a:latin typeface="Arial"/>
                <a:ea typeface="Arial"/>
                <a:cs typeface="Arial"/>
                <a:sym typeface="Arial"/>
              </a:rPr>
              <a:t>Models, raw results, graphs, documentation, and tests included</a:t>
            </a:r>
            <a:endParaRPr sz="1100"/>
          </a:p>
        </p:txBody>
      </p:sp>
      <p:pic>
        <p:nvPicPr>
          <p:cNvPr descr="easy.png" id="301" name="Google Shape;30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5164" y="836676"/>
            <a:ext cx="2914650" cy="194081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0"/>
          <p:cNvSpPr txBox="1"/>
          <p:nvPr/>
        </p:nvSpPr>
        <p:spPr>
          <a:xfrm>
            <a:off x="5932328" y="3236976"/>
            <a:ext cx="260610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sz="1100"/>
          </a:p>
        </p:txBody>
      </p:sp>
      <p:sp>
        <p:nvSpPr>
          <p:cNvPr id="303" name="Google Shape;303;p40"/>
          <p:cNvSpPr txBox="1"/>
          <p:nvPr/>
        </p:nvSpPr>
        <p:spPr>
          <a:xfrm>
            <a:off x="5932328" y="3854196"/>
            <a:ext cx="260610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B1BECF"/>
                </a:solidFill>
                <a:latin typeface="Arial"/>
                <a:ea typeface="Arial"/>
                <a:cs typeface="Arial"/>
                <a:sym typeface="Arial"/>
              </a:rPr>
              <a:t>Add presenter names and IDs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/>
        </p:nvSpPr>
        <p:spPr>
          <a:xfrm>
            <a:off x="1303150" y="677625"/>
            <a:ext cx="6874500" cy="3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THANK</a:t>
            </a:r>
            <a:endParaRPr sz="9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endParaRPr sz="9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