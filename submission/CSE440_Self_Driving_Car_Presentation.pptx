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777240"/>
            <a:ext cx="6400800" cy="13258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600" b="1">
                <a:solidFill>
                  <a:srgbClr val="FFFFFF"/>
                </a:solidFill>
                <a:latin typeface="Aptos"/>
              </a:rPr>
              <a:t>SELF-DRIVING CAR
RACING GAME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40280"/>
            <a:ext cx="603504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200" b="0">
                <a:solidFill>
                  <a:srgbClr val="B1D5F2"/>
                </a:solidFill>
                <a:latin typeface="Aptos"/>
              </a:rPr>
              <a:t>Deep Q-Network Reinforcement Learning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2852928"/>
            <a:ext cx="62179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ECF3F9"/>
                </a:solidFill>
                <a:latin typeface="Aptos"/>
              </a:rPr>
              <a:t>CSE440 - Introduction to Artificial Intelligence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5413248"/>
            <a:ext cx="48463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B1BECF"/>
                </a:solidFill>
                <a:latin typeface="Aptos"/>
              </a:rPr>
              <a:t>Add team names and IDs</a:t>
            </a:r>
          </a:p>
        </p:txBody>
      </p:sp>
      <p:pic>
        <p:nvPicPr>
          <p:cNvPr id="6" name="Picture 5" descr="ea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658368"/>
            <a:ext cx="4800600" cy="3200400"/>
          </a:xfrm>
          <a:prstGeom prst="rect">
            <a:avLst/>
          </a:prstGeom>
        </p:spPr>
      </p:pic>
      <p:pic>
        <p:nvPicPr>
          <p:cNvPr id="7" name="Picture 6" descr="archite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4069080"/>
            <a:ext cx="5257800" cy="1828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Project Idea and Scope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A focused AI demonstration that runs on a normal laptop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325880"/>
            <a:ext cx="5230368" cy="1755648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325880"/>
            <a:ext cx="73152" cy="1755648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453895"/>
            <a:ext cx="4910328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Agent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828800"/>
            <a:ext cx="4910328" cy="118871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778B"/>
                </a:solidFill>
                <a:latin typeface="Aptos"/>
              </a:rPr>
              <a:t>One AI-controlled car learns a policy from reward, not a scripted route.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325880"/>
            <a:ext cx="5230368" cy="1755648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263640" y="1325880"/>
            <a:ext cx="73152" cy="1755648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7" y="1453895"/>
            <a:ext cx="4910328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Environment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7" y="1828800"/>
            <a:ext cx="4910328" cy="118871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778B"/>
                </a:solidFill>
                <a:latin typeface="Aptos"/>
              </a:rPr>
              <a:t>2D tracks, simple physics, image-mask collision, checkpoints, and laps.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" y="3675887"/>
            <a:ext cx="5230368" cy="1755648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85800" y="3675887"/>
            <a:ext cx="73152" cy="1755648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86968" y="3803903"/>
            <a:ext cx="4910328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Observation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86968" y="4178807"/>
            <a:ext cx="4910328" cy="118871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778B"/>
                </a:solidFill>
                <a:latin typeface="Aptos"/>
              </a:rPr>
              <a:t>Five distance rays plus speed create a compact six-value state.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63640" y="3675887"/>
            <a:ext cx="5230368" cy="1755648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63640" y="3675887"/>
            <a:ext cx="73152" cy="1755648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64807" y="3803903"/>
            <a:ext cx="4910328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Learning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64807" y="4178807"/>
            <a:ext cx="4910328" cy="1188719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778B"/>
                </a:solidFill>
                <a:latin typeface="Aptos"/>
              </a:rPr>
              <a:t>DQN, replay memory, target network, and epsilon-greedy exploration.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Agent-Environment Training Loop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Observe, act, reward, replay, update, repeat</a:t>
            </a:r>
          </a:p>
        </p:txBody>
      </p:sp>
      <p:pic>
        <p:nvPicPr>
          <p:cNvPr id="5" name="Picture 4" descr="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34440"/>
            <a:ext cx="11292840" cy="39136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914400" y="5230368"/>
            <a:ext cx="3200400" cy="932688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4400" y="5230368"/>
            <a:ext cx="73152" cy="932688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15568" y="5358383"/>
            <a:ext cx="28803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5568" y="5733288"/>
            <a:ext cx="2880360" cy="3657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778B"/>
                </a:solidFill>
                <a:latin typeface="Aptos"/>
              </a:rPr>
              <a:t>5 distances + speed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480560" y="5230368"/>
            <a:ext cx="3200400" cy="932688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480560" y="5230368"/>
            <a:ext cx="73152" cy="932688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81728" y="5358383"/>
            <a:ext cx="28803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81728" y="5733288"/>
            <a:ext cx="2880360" cy="3657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778B"/>
                </a:solidFill>
                <a:latin typeface="Aptos"/>
              </a:rPr>
              <a:t>left / right / straight / brake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5230368"/>
            <a:ext cx="3200400" cy="932688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46720" y="5230368"/>
            <a:ext cx="73152" cy="932688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47888" y="5358383"/>
            <a:ext cx="28803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Learning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47888" y="5733288"/>
            <a:ext cx="2880360" cy="3657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300" b="0">
                <a:solidFill>
                  <a:srgbClr val="66778B"/>
                </a:solidFill>
                <a:latin typeface="Aptos"/>
              </a:rPr>
              <a:t>reward -&gt; replay -&gt; DQN update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Game Environment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Image-based tracks and intentionally simple vehicle physics</a:t>
            </a:r>
          </a:p>
        </p:txBody>
      </p:sp>
      <p:pic>
        <p:nvPicPr>
          <p:cNvPr id="5" name="Picture 4" descr="ea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88720"/>
            <a:ext cx="3611880" cy="240487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3675887"/>
            <a:ext cx="36118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2B45"/>
                </a:solidFill>
                <a:latin typeface="Aptos"/>
              </a:rPr>
              <a:t>Easy</a:t>
            </a:r>
          </a:p>
        </p:txBody>
      </p:sp>
      <p:pic>
        <p:nvPicPr>
          <p:cNvPr id="7" name="Picture 6" descr="mediu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89120" y="1188720"/>
            <a:ext cx="3611880" cy="2404872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89120" y="3675887"/>
            <a:ext cx="36118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2B45"/>
                </a:solidFill>
                <a:latin typeface="Aptos"/>
              </a:rPr>
              <a:t>Medium</a:t>
            </a:r>
          </a:p>
        </p:txBody>
      </p:sp>
      <p:pic>
        <p:nvPicPr>
          <p:cNvPr id="9" name="Picture 8" descr="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75320" y="1188720"/>
            <a:ext cx="3611880" cy="24048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275320" y="3675887"/>
            <a:ext cx="361188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1">
                <a:solidFill>
                  <a:srgbClr val="182B45"/>
                </a:solidFill>
                <a:latin typeface="Aptos"/>
              </a:rPr>
              <a:t>Hard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206240"/>
            <a:ext cx="10972800" cy="1691640"/>
          </a:xfrm>
          <a:prstGeom prst="rect">
            <a:avLst/>
          </a:prstGeom>
          <a:noFill/>
        </p:spPr>
        <p:txBody>
          <a:bodyPr wrap="square" lIns="109728" rIns="45720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1B2738"/>
                </a:solidFill>
                <a:latin typeface="Aptos"/>
              </a:defRPr>
            </a:pPr>
            <a:r>
              <a:t>White road / black wall mask for collision and sensors</a:t>
            </a:r>
          </a:p>
          <a:p>
            <a:pPr>
              <a:spcAft>
                <a:spcPts val="1000"/>
              </a:spcAft>
              <a:defRPr sz="1700">
                <a:solidFill>
                  <a:srgbClr val="1B2738"/>
                </a:solidFill>
                <a:latin typeface="Aptos"/>
              </a:defRPr>
            </a:pPr>
            <a:r>
              <a:t>Nine car-body probe points</a:t>
            </a:r>
          </a:p>
          <a:p>
            <a:pPr>
              <a:spcAft>
                <a:spcPts val="1000"/>
              </a:spcAft>
              <a:defRPr sz="1700">
                <a:solidFill>
                  <a:srgbClr val="1B2738"/>
                </a:solidFill>
                <a:latin typeface="Aptos"/>
              </a:defRPr>
            </a:pPr>
            <a:r>
              <a:t>720 ordered centerline points and 12 checkpoints</a:t>
            </a:r>
          </a:p>
          <a:p>
            <a:pPr>
              <a:spcAft>
                <a:spcPts val="1000"/>
              </a:spcAft>
              <a:defRPr sz="1700">
                <a:solidFill>
                  <a:srgbClr val="1B2738"/>
                </a:solidFill>
                <a:latin typeface="Aptos"/>
              </a:defRPr>
            </a:pPr>
            <a:r>
              <a:t>Position, speed, heading, steering, acceleration, braking, friction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State Representation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The neural network receives six normalized values</a:t>
            </a:r>
          </a:p>
        </p:txBody>
      </p:sp>
      <p:pic>
        <p:nvPicPr>
          <p:cNvPr id="5" name="Picture 4" descr="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170432"/>
            <a:ext cx="6812280" cy="3712463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635240" y="1207008"/>
            <a:ext cx="3977639" cy="1143000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35240" y="1207008"/>
            <a:ext cx="73152" cy="1143000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836408" y="1335024"/>
            <a:ext cx="3657599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Five ray angles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36408" y="1709928"/>
            <a:ext cx="3657599" cy="57607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0">
                <a:solidFill>
                  <a:srgbClr val="66778B"/>
                </a:solidFill>
                <a:latin typeface="Aptos"/>
              </a:rPr>
              <a:t>-90°, -45°, 0°, +45°, +90°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635240" y="2578608"/>
            <a:ext cx="3977639" cy="1143000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635240" y="2578608"/>
            <a:ext cx="73152" cy="1143000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36408" y="2706624"/>
            <a:ext cx="3657599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Normalization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36408" y="3081528"/>
            <a:ext cx="3657599" cy="57607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6778B"/>
                </a:solidFill>
                <a:latin typeface="Aptos"/>
              </a:rPr>
              <a:t>distance / maximum range
speed / maximum speed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635240" y="3950208"/>
            <a:ext cx="3977639" cy="1143000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635240" y="3950208"/>
            <a:ext cx="73152" cy="1143000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36408" y="4078224"/>
            <a:ext cx="3657599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State vector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836408" y="4453128"/>
            <a:ext cx="3657599" cy="57607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778B"/>
                </a:solidFill>
                <a:latin typeface="Aptos"/>
              </a:rPr>
              <a:t>[left, front_left, front,
front_right, right, speed]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85232"/>
            <a:ext cx="6126480" cy="3657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3F88C5"/>
                </a:solidFill>
                <a:latin typeface="Aptos"/>
              </a:rPr>
              <a:t>Small, interpretable, and CPU-friendly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Actions and Reward Engineering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DQN fits the four-action discrete control problem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261872"/>
            <a:ext cx="2423160" cy="914400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04088" y="1417320"/>
            <a:ext cx="4114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97CDF6"/>
                </a:solidFill>
                <a:latin typeface="Aptos"/>
              </a:rPr>
              <a:t>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1463040"/>
            <a:ext cx="16916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Turn left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47288" y="1261872"/>
            <a:ext cx="2423160" cy="914400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57016" y="1417320"/>
            <a:ext cx="4114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97CDF6"/>
                </a:solidFill>
                <a:latin typeface="Apto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014215" y="1463040"/>
            <a:ext cx="16916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Turn right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0216" y="1261872"/>
            <a:ext cx="2423160" cy="914400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9944" y="1417320"/>
            <a:ext cx="4114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97CDF6"/>
                </a:solidFill>
                <a:latin typeface="Aptos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144" y="1463040"/>
            <a:ext cx="16916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Go straight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53144" y="1261872"/>
            <a:ext cx="2423160" cy="914400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262872" y="1417320"/>
            <a:ext cx="411480" cy="4114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500" b="1">
                <a:solidFill>
                  <a:srgbClr val="97CDF6"/>
                </a:solidFill>
                <a:latin typeface="Apto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20072" y="1463040"/>
            <a:ext cx="16916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Brake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2606040"/>
            <a:ext cx="5074920" cy="859536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2606040"/>
            <a:ext cx="73152" cy="859536"/>
          </a:xfrm>
          <a:prstGeom prst="rect">
            <a:avLst/>
          </a:prstGeom>
          <a:solidFill>
            <a:srgbClr val="41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78408" y="2734056"/>
            <a:ext cx="475488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B45"/>
                </a:solidFill>
                <a:latin typeface="Aptos"/>
              </a:rPr>
              <a:t>Driving forward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78408" y="3108960"/>
            <a:ext cx="4754880" cy="29260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6778B"/>
                </a:solidFill>
                <a:latin typeface="Aptos"/>
              </a:rPr>
              <a:t>+1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55079" y="2606040"/>
            <a:ext cx="5074920" cy="859536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55079" y="2606040"/>
            <a:ext cx="73152" cy="859536"/>
          </a:xfrm>
          <a:prstGeom prst="rect">
            <a:avLst/>
          </a:prstGeom>
          <a:solidFill>
            <a:srgbClr val="41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56247" y="2734056"/>
            <a:ext cx="475488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B45"/>
                </a:solidFill>
                <a:latin typeface="Aptos"/>
              </a:rPr>
              <a:t>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56247" y="3108960"/>
            <a:ext cx="4754880" cy="29260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6778B"/>
                </a:solidFill>
                <a:latin typeface="Aptos"/>
              </a:rPr>
              <a:t>+20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" y="3575304"/>
            <a:ext cx="5074920" cy="859536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77240" y="3575304"/>
            <a:ext cx="73152" cy="859536"/>
          </a:xfrm>
          <a:prstGeom prst="rect">
            <a:avLst/>
          </a:prstGeom>
          <a:solidFill>
            <a:srgbClr val="41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8408" y="3703320"/>
            <a:ext cx="475488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B45"/>
                </a:solidFill>
                <a:latin typeface="Aptos"/>
              </a:rPr>
              <a:t>Lap complete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" y="4078224"/>
            <a:ext cx="4754880" cy="29260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6778B"/>
                </a:solidFill>
                <a:latin typeface="Aptos"/>
              </a:rPr>
              <a:t>+100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355079" y="3575304"/>
            <a:ext cx="5074920" cy="859536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355079" y="3575304"/>
            <a:ext cx="73152" cy="859536"/>
          </a:xfrm>
          <a:prstGeom prst="rect">
            <a:avLst/>
          </a:prstGeom>
          <a:solidFill>
            <a:srgbClr val="D24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556247" y="3703320"/>
            <a:ext cx="475488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B45"/>
                </a:solidFill>
                <a:latin typeface="Aptos"/>
              </a:rPr>
              <a:t>Collision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56247" y="4078224"/>
            <a:ext cx="4754880" cy="29260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6778B"/>
                </a:solidFill>
                <a:latin typeface="Aptos"/>
              </a:rPr>
              <a:t>-100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77240" y="4544568"/>
            <a:ext cx="5074920" cy="859536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77240" y="4544568"/>
            <a:ext cx="73152" cy="859536"/>
          </a:xfrm>
          <a:prstGeom prst="rect">
            <a:avLst/>
          </a:prstGeom>
          <a:solidFill>
            <a:srgbClr val="D24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8408" y="4672584"/>
            <a:ext cx="475488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B45"/>
                </a:solidFill>
                <a:latin typeface="Aptos"/>
              </a:rPr>
              <a:t>Driving backwards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8408" y="5047488"/>
            <a:ext cx="4754880" cy="29260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6778B"/>
                </a:solidFill>
                <a:latin typeface="Aptos"/>
              </a:rPr>
              <a:t>-10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55079" y="4544568"/>
            <a:ext cx="5074920" cy="859536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355079" y="4544568"/>
            <a:ext cx="73152" cy="859536"/>
          </a:xfrm>
          <a:prstGeom prst="rect">
            <a:avLst/>
          </a:prstGeom>
          <a:solidFill>
            <a:srgbClr val="D24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556247" y="4672584"/>
            <a:ext cx="475488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182B45"/>
                </a:solidFill>
                <a:latin typeface="Aptos"/>
              </a:rPr>
              <a:t>Standing still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556247" y="5047488"/>
            <a:ext cx="4754880" cy="292607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6778B"/>
                </a:solidFill>
                <a:latin typeface="Aptos"/>
              </a:rPr>
              <a:t>-2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14400" y="5715000"/>
            <a:ext cx="10332720" cy="38404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3F88C5"/>
                </a:solidFill>
                <a:latin typeface="Aptos"/>
              </a:rPr>
              <a:t>Good rewards matter more than an unnecessarily complicated network.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Deep Q-Network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A compact 6 -&gt; 64 -&gt; 64 -&gt; 4 policy network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600200"/>
            <a:ext cx="2148840" cy="1325880"/>
          </a:xfrm>
          <a:prstGeom prst="round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1856231"/>
            <a:ext cx="19202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Input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2286000"/>
            <a:ext cx="19202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DAEBF9"/>
                </a:solidFill>
                <a:latin typeface="Aptos"/>
              </a:rPr>
              <a:t>6 values</a:t>
            </a:r>
          </a:p>
        </p:txBody>
      </p:sp>
      <p:sp>
        <p:nvSpPr>
          <p:cNvPr id="8" name="Chevron 7"/>
          <p:cNvSpPr/>
          <p:nvPr/>
        </p:nvSpPr>
        <p:spPr>
          <a:xfrm>
            <a:off x="2953512" y="2039112"/>
            <a:ext cx="502920" cy="411480"/>
          </a:xfrm>
          <a:prstGeom prst="chevron">
            <a:avLst/>
          </a:prstGeom>
          <a:solidFill>
            <a:srgbClr val="667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429000" y="1600200"/>
            <a:ext cx="2148840" cy="1325880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8728" y="1856231"/>
            <a:ext cx="19202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Hidden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38728" y="2286000"/>
            <a:ext cx="19202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DAEBF9"/>
                </a:solidFill>
                <a:latin typeface="Aptos"/>
              </a:rPr>
              <a:t>64 ReLU</a:t>
            </a:r>
          </a:p>
        </p:txBody>
      </p:sp>
      <p:sp>
        <p:nvSpPr>
          <p:cNvPr id="12" name="Chevron 11"/>
          <p:cNvSpPr/>
          <p:nvPr/>
        </p:nvSpPr>
        <p:spPr>
          <a:xfrm>
            <a:off x="5696712" y="2039112"/>
            <a:ext cx="502920" cy="411480"/>
          </a:xfrm>
          <a:prstGeom prst="chevron">
            <a:avLst/>
          </a:prstGeom>
          <a:solidFill>
            <a:srgbClr val="667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172200" y="1600200"/>
            <a:ext cx="2148840" cy="1325880"/>
          </a:xfrm>
          <a:prstGeom prst="roundRect">
            <a:avLst/>
          </a:prstGeom>
          <a:solidFill>
            <a:srgbClr val="18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81928" y="1856231"/>
            <a:ext cx="19202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Hidden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81928" y="2286000"/>
            <a:ext cx="19202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DAEBF9"/>
                </a:solidFill>
                <a:latin typeface="Aptos"/>
              </a:rPr>
              <a:t>64 ReLU</a:t>
            </a:r>
          </a:p>
        </p:txBody>
      </p:sp>
      <p:sp>
        <p:nvSpPr>
          <p:cNvPr id="16" name="Chevron 15"/>
          <p:cNvSpPr/>
          <p:nvPr/>
        </p:nvSpPr>
        <p:spPr>
          <a:xfrm>
            <a:off x="8439912" y="2039112"/>
            <a:ext cx="502920" cy="411480"/>
          </a:xfrm>
          <a:prstGeom prst="chevron">
            <a:avLst/>
          </a:prstGeom>
          <a:solidFill>
            <a:srgbClr val="6677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915400" y="1600200"/>
            <a:ext cx="2148840" cy="1325880"/>
          </a:xfrm>
          <a:prstGeom prst="round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025128" y="1856231"/>
            <a:ext cx="192024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Output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25128" y="2286000"/>
            <a:ext cx="1920240" cy="2743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DAEBF9"/>
                </a:solidFill>
                <a:latin typeface="Aptos"/>
              </a:rPr>
              <a:t>4 Q-values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" y="3429000"/>
            <a:ext cx="10332720" cy="2057400"/>
          </a:xfrm>
          <a:prstGeom prst="rect">
            <a:avLst/>
          </a:prstGeom>
          <a:noFill/>
        </p:spPr>
        <p:txBody>
          <a:bodyPr wrap="square" lIns="109728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1B2738"/>
                </a:solidFill>
                <a:latin typeface="Aptos"/>
              </a:defRPr>
            </a:pPr>
            <a:r>
              <a:t>Experience replay: random mini-batches from stored transitions</a:t>
            </a:r>
          </a:p>
          <a:p>
            <a:pPr>
              <a:spcAft>
                <a:spcPts val="1000"/>
              </a:spcAft>
              <a:defRPr sz="1900">
                <a:solidFill>
                  <a:srgbClr val="1B2738"/>
                </a:solidFill>
                <a:latin typeface="Aptos"/>
              </a:defRPr>
            </a:pPr>
            <a:r>
              <a:t>Target network: slower-moving Bellman target</a:t>
            </a:r>
          </a:p>
          <a:p>
            <a:pPr>
              <a:spcAft>
                <a:spcPts val="1000"/>
              </a:spcAft>
              <a:defRPr sz="1900">
                <a:solidFill>
                  <a:srgbClr val="1B2738"/>
                </a:solidFill>
                <a:latin typeface="Aptos"/>
              </a:defRPr>
            </a:pPr>
            <a:r>
              <a:t>Double DQN target selection by default</a:t>
            </a:r>
          </a:p>
          <a:p>
            <a:pPr>
              <a:spcAft>
                <a:spcPts val="1000"/>
              </a:spcAft>
              <a:defRPr sz="1900">
                <a:solidFill>
                  <a:srgbClr val="1B2738"/>
                </a:solidFill>
                <a:latin typeface="Aptos"/>
              </a:defRPr>
            </a:pPr>
            <a:r>
              <a:t>Huber loss + Adam + gradient clipping</a:t>
            </a:r>
          </a:p>
          <a:p>
            <a:pPr>
              <a:spcAft>
                <a:spcPts val="1000"/>
              </a:spcAft>
              <a:defRPr sz="1900">
                <a:solidFill>
                  <a:srgbClr val="1B2738"/>
                </a:solidFill>
                <a:latin typeface="Aptos"/>
              </a:defRPr>
            </a:pPr>
            <a:r>
              <a:t>Gamma = 0.99; epsilon 1.00 -&gt; 0.05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Training and Model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Live controls for demonstration; headless mode for speed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188720"/>
            <a:ext cx="3429000" cy="1170432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85800" y="1188720"/>
            <a:ext cx="73152" cy="1170432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86968" y="1316736"/>
            <a:ext cx="31089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Live training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86968" y="1691640"/>
            <a:ext cx="3108960" cy="6035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6778B"/>
                </a:solidFill>
                <a:latin typeface="Aptos"/>
              </a:rPr>
              <a:t>Episode, reward, speed, epsilon, loss, sensors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188720"/>
            <a:ext cx="3429000" cy="1170432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89120" y="1188720"/>
            <a:ext cx="73152" cy="1170432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0288" y="1316736"/>
            <a:ext cx="31089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Controls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90288" y="1691640"/>
            <a:ext cx="3108960" cy="6035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6778B"/>
                </a:solidFill>
                <a:latin typeface="Aptos"/>
              </a:rPr>
              <a:t>Start, pause, continue, speed up, save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188720"/>
            <a:ext cx="3429000" cy="1170432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188720"/>
            <a:ext cx="73152" cy="1170432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1316736"/>
            <a:ext cx="31089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Headless CLI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1691640"/>
            <a:ext cx="3108960" cy="6035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6778B"/>
                </a:solidFill>
                <a:latin typeface="Aptos"/>
              </a:rPr>
              <a:t>Faster CPU training without rendering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5800" y="2761488"/>
            <a:ext cx="3429000" cy="1170432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5800" y="2761488"/>
            <a:ext cx="73152" cy="1170432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6968" y="2889504"/>
            <a:ext cx="31089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Best checkpoint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" y="3264408"/>
            <a:ext cx="3108960" cy="6035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6778B"/>
                </a:solidFill>
                <a:latin typeface="Aptos"/>
              </a:rPr>
              <a:t>Highest completed/reward score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89120" y="2761488"/>
            <a:ext cx="3429000" cy="1170432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4389120" y="2761488"/>
            <a:ext cx="73152" cy="1170432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90288" y="2889504"/>
            <a:ext cx="31089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Latest checkpoint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90288" y="3264408"/>
            <a:ext cx="3108960" cy="6035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6778B"/>
                </a:solidFill>
                <a:latin typeface="Aptos"/>
              </a:rPr>
              <a:t>Resume optimizer and training state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092440" y="2761488"/>
            <a:ext cx="3429000" cy="1170432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92440" y="2761488"/>
            <a:ext cx="73152" cy="1170432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93608" y="2889504"/>
            <a:ext cx="31089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Results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93608" y="3264408"/>
            <a:ext cx="3108960" cy="60350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500" b="0">
                <a:solidFill>
                  <a:srgbClr val="66778B"/>
                </a:solidFill>
                <a:latin typeface="Aptos"/>
              </a:rPr>
              <a:t>CSV, JSON, reward, lap, collision graphs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" y="4617720"/>
            <a:ext cx="106984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300" b="1">
                <a:solidFill>
                  <a:srgbClr val="3F88C5"/>
                </a:solidFill>
                <a:latin typeface="Aptos"/>
              </a:rPr>
              <a:t>Training behavior includes random exploration; evaluation uses epsilon = 0.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85800" y="5321808"/>
            <a:ext cx="2487168" cy="658368"/>
          </a:xfrm>
          <a:prstGeom prst="roundRect">
            <a:avLst/>
          </a:prstGeom>
          <a:solidFill>
            <a:srgbClr val="ECF3F9"/>
          </a:solidFill>
          <a:ln>
            <a:solidFill>
              <a:srgbClr val="C6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58952" y="5477256"/>
            <a:ext cx="2340864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82B45"/>
                </a:solidFill>
                <a:latin typeface="Aptos"/>
              </a:rPr>
              <a:t>300 Easy episodes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456432" y="5321808"/>
            <a:ext cx="2487168" cy="658368"/>
          </a:xfrm>
          <a:prstGeom prst="roundRect">
            <a:avLst/>
          </a:prstGeom>
          <a:solidFill>
            <a:srgbClr val="ECF3F9"/>
          </a:solidFill>
          <a:ln>
            <a:solidFill>
              <a:srgbClr val="C6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529584" y="5477256"/>
            <a:ext cx="2340864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82B45"/>
                </a:solidFill>
                <a:latin typeface="Aptos"/>
              </a:rPr>
              <a:t>CPU only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227064" y="5321808"/>
            <a:ext cx="2487168" cy="658368"/>
          </a:xfrm>
          <a:prstGeom prst="roundRect">
            <a:avLst/>
          </a:prstGeom>
          <a:solidFill>
            <a:srgbClr val="ECF3F9"/>
          </a:solidFill>
          <a:ln>
            <a:solidFill>
              <a:srgbClr val="C6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0216" y="5477256"/>
            <a:ext cx="2340864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82B45"/>
                </a:solidFill>
                <a:latin typeface="Aptos"/>
              </a:rPr>
              <a:t>Seed/config saved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997696" y="5321808"/>
            <a:ext cx="2487168" cy="658368"/>
          </a:xfrm>
          <a:prstGeom prst="roundRect">
            <a:avLst/>
          </a:prstGeom>
          <a:solidFill>
            <a:srgbClr val="ECF3F9"/>
          </a:solidFill>
          <a:ln>
            <a:solidFill>
              <a:srgbClr val="C6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070848" y="5477256"/>
            <a:ext cx="2340864" cy="256032"/>
          </a:xfrm>
          <a:prstGeom prst="rect">
            <a:avLst/>
          </a:prstGeom>
          <a:noFill/>
        </p:spPr>
        <p:txBody>
          <a:bodyPr wrap="none" lIns="45720" rIns="45720" tIns="18288" bIns="18288" anchor="ctr">
            <a:spAutoFit/>
          </a:bodyPr>
          <a:lstStyle/>
          <a:p>
            <a:pPr algn="ctr"/>
            <a:r>
              <a:rPr sz="1500" b="1">
                <a:solidFill>
                  <a:srgbClr val="182B45"/>
                </a:solidFill>
                <a:latin typeface="Aptos"/>
              </a:rPr>
              <a:t>20 automated tests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Training Results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The reward trend becomes strongly positive as laps are learned</a:t>
            </a:r>
          </a:p>
        </p:txBody>
      </p:sp>
      <p:pic>
        <p:nvPicPr>
          <p:cNvPr id="5" name="Picture 4" descr="reward_per_episod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097280"/>
            <a:ext cx="7543800" cy="4160520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8275320" y="1170432"/>
            <a:ext cx="3246120" cy="960120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75320" y="1170432"/>
            <a:ext cx="73152" cy="960120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476488" y="1298448"/>
            <a:ext cx="2926079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300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76488" y="1673352"/>
            <a:ext cx="2926079" cy="3931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778B"/>
                </a:solidFill>
                <a:latin typeface="Aptos"/>
              </a:rPr>
              <a:t>training episodes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75320" y="2350008"/>
            <a:ext cx="3246120" cy="960120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8275320" y="2350008"/>
            <a:ext cx="73152" cy="960120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76488" y="2478024"/>
            <a:ext cx="2926079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110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6488" y="2852928"/>
            <a:ext cx="2926079" cy="3931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778B"/>
                </a:solidFill>
                <a:latin typeface="Aptos"/>
              </a:rPr>
              <a:t>exploratory lap completions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75320" y="3529584"/>
            <a:ext cx="3246120" cy="960120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275320" y="3529584"/>
            <a:ext cx="73152" cy="960120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76488" y="3657600"/>
            <a:ext cx="2926079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614.7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76488" y="4032504"/>
            <a:ext cx="2926079" cy="3931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778B"/>
                </a:solidFill>
                <a:latin typeface="Aptos"/>
              </a:rPr>
              <a:t>final-50 mean reward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75320" y="4709160"/>
            <a:ext cx="3246120" cy="960120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8275320" y="4709160"/>
            <a:ext cx="73152" cy="960120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76488" y="4837176"/>
            <a:ext cx="2926079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653.0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76488" y="5212080"/>
            <a:ext cx="2926079" cy="39319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600" b="0">
                <a:solidFill>
                  <a:srgbClr val="66778B"/>
                </a:solidFill>
                <a:latin typeface="Aptos"/>
              </a:rPr>
              <a:t>best exploratory reward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5715000"/>
            <a:ext cx="7315200" cy="36576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66778B"/>
                </a:solidFill>
                <a:latin typeface="Aptos"/>
              </a:rPr>
              <a:t>Noise remains because epsilon-greedy training intentionally keeps exploring.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Greedy Evaluation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Standard start position, epsilon = 0, 20 episodes per track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389888"/>
            <a:ext cx="3429000" cy="3456432"/>
          </a:xfrm>
          <a:prstGeom prst="roundRect">
            <a:avLst/>
          </a:prstGeom>
          <a:solidFill>
            <a:srgbClr val="ECF3F9"/>
          </a:solidFill>
          <a:ln>
            <a:solidFill>
              <a:srgbClr val="C6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1682496"/>
            <a:ext cx="3099816" cy="47548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182B45"/>
                </a:solidFill>
                <a:latin typeface="Aptos"/>
              </a:rPr>
              <a:t>Easy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304288"/>
            <a:ext cx="3099816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41A470"/>
                </a:solidFill>
                <a:latin typeface="Aptos"/>
              </a:rPr>
              <a:t>20 / 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834640"/>
            <a:ext cx="309981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66778B"/>
                </a:solidFill>
                <a:latin typeface="Aptos"/>
              </a:rPr>
              <a:t>completed laps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91840"/>
            <a:ext cx="3099816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1A470"/>
                </a:solidFill>
                <a:latin typeface="Aptos"/>
              </a:rPr>
              <a:t>0 collisions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749039"/>
            <a:ext cx="3099816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3F88C5"/>
                </a:solidFill>
                <a:latin typeface="Aptos"/>
              </a:rPr>
              <a:t>Reward 631.0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4160520"/>
            <a:ext cx="3099816" cy="31089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66778B"/>
                </a:solidFill>
                <a:latin typeface="Aptos"/>
              </a:rPr>
              <a:t>295 mean lap steps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59" y="1389888"/>
            <a:ext cx="3429000" cy="3456432"/>
          </a:xfrm>
          <a:prstGeom prst="roundRect">
            <a:avLst/>
          </a:prstGeom>
          <a:solidFill>
            <a:srgbClr val="ECF3F9"/>
          </a:solidFill>
          <a:ln>
            <a:solidFill>
              <a:srgbClr val="C6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45151" y="1682496"/>
            <a:ext cx="3099816" cy="47548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182B45"/>
                </a:solidFill>
                <a:latin typeface="Aptos"/>
              </a:rPr>
              <a:t>Medium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45151" y="2304288"/>
            <a:ext cx="3099816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41A470"/>
                </a:solidFill>
                <a:latin typeface="Aptos"/>
              </a:rPr>
              <a:t>20 / 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45151" y="2834640"/>
            <a:ext cx="309981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66778B"/>
                </a:solidFill>
                <a:latin typeface="Aptos"/>
              </a:rPr>
              <a:t>completed laps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45151" y="3291840"/>
            <a:ext cx="3099816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1A470"/>
                </a:solidFill>
                <a:latin typeface="Aptos"/>
              </a:rPr>
              <a:t>0 collisions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45151" y="3749039"/>
            <a:ext cx="3099816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3F88C5"/>
                </a:solidFill>
                <a:latin typeface="Aptos"/>
              </a:rPr>
              <a:t>Reward 576.0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45151" y="4160520"/>
            <a:ext cx="3099816" cy="31089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66778B"/>
                </a:solidFill>
                <a:latin typeface="Aptos"/>
              </a:rPr>
              <a:t>241 mean lap steps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302752" y="1389888"/>
            <a:ext cx="3429000" cy="3456432"/>
          </a:xfrm>
          <a:prstGeom prst="roundRect">
            <a:avLst/>
          </a:prstGeom>
          <a:solidFill>
            <a:srgbClr val="ECF3F9"/>
          </a:solidFill>
          <a:ln>
            <a:solidFill>
              <a:srgbClr val="C6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67344" y="1682496"/>
            <a:ext cx="3099816" cy="47548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2600" b="1">
                <a:solidFill>
                  <a:srgbClr val="182B45"/>
                </a:solidFill>
                <a:latin typeface="Aptos"/>
              </a:rPr>
              <a:t>Hard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67344" y="2304288"/>
            <a:ext cx="3099816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3000" b="1">
                <a:solidFill>
                  <a:srgbClr val="41A470"/>
                </a:solidFill>
                <a:latin typeface="Aptos"/>
              </a:rPr>
              <a:t>20 / 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7344" y="2834640"/>
            <a:ext cx="3099816" cy="29260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66778B"/>
                </a:solidFill>
                <a:latin typeface="Aptos"/>
              </a:rPr>
              <a:t>completed laps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67344" y="3291840"/>
            <a:ext cx="3099816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41A470"/>
                </a:solidFill>
                <a:latin typeface="Aptos"/>
              </a:rPr>
              <a:t>0 collisions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67344" y="3749039"/>
            <a:ext cx="3099816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700" b="0">
                <a:solidFill>
                  <a:srgbClr val="3F88C5"/>
                </a:solidFill>
                <a:latin typeface="Aptos"/>
              </a:rPr>
              <a:t>Reward 593.0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67344" y="4160520"/>
            <a:ext cx="3099816" cy="310896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500" b="0">
                <a:solidFill>
                  <a:srgbClr val="66778B"/>
                </a:solidFill>
                <a:latin typeface="Aptos"/>
              </a:rPr>
              <a:t>259 mean lap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5175504"/>
            <a:ext cx="10652760" cy="80467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600" b="0">
                <a:solidFill>
                  <a:srgbClr val="182B45"/>
                </a:solidFill>
                <a:latin typeface="Aptos"/>
              </a:rPr>
              <a:t>All three packaged best checkpoints reached 100% success with zero collisions in deterministic standard-start evaluation. Medium and Hard use curriculum continuation; arbitrary-start and unseen-track generalization are not claimed.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Complete Pygame Application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Manual drive, live training, model playback, evaluation, and settings</a:t>
            </a:r>
          </a:p>
        </p:txBody>
      </p:sp>
      <p:pic>
        <p:nvPicPr>
          <p:cNvPr id="5" name="Picture 4" descr="gamepla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78992"/>
            <a:ext cx="8229600" cy="44897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851392" y="1325880"/>
            <a:ext cx="2743200" cy="3611880"/>
          </a:xfrm>
          <a:prstGeom prst="rect">
            <a:avLst/>
          </a:prstGeom>
          <a:noFill/>
        </p:spPr>
        <p:txBody>
          <a:bodyPr wrap="square" lIns="109728" rIns="45720">
            <a:sp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t>Selectable track difficulty</a:t>
            </a:r>
          </a:p>
          <a:p>
            <a:pPr>
              <a:spcAft>
                <a:spcPts val="10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t>Red / blue / green car</a:t>
            </a:r>
          </a:p>
          <a:p>
            <a:pPr>
              <a:spcAft>
                <a:spcPts val="10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t>Live sensor rays</a:t>
            </a:r>
          </a:p>
          <a:p>
            <a:pPr>
              <a:spcAft>
                <a:spcPts val="10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t>Pause / continue / save</a:t>
            </a:r>
          </a:p>
          <a:p>
            <a:pPr>
              <a:spcAft>
                <a:spcPts val="10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t>Best/latest model loading</a:t>
            </a:r>
          </a:p>
          <a:p>
            <a:pPr>
              <a:spcAft>
                <a:spcPts val="1000"/>
              </a:spcAft>
              <a:defRPr sz="1600">
                <a:solidFill>
                  <a:srgbClr val="1B2738"/>
                </a:solidFill>
                <a:latin typeface="Aptos"/>
              </a:defRPr>
            </a:pPr>
            <a:r>
              <a:t>Automatic evaluation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887968" y="5074920"/>
            <a:ext cx="2606040" cy="5486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800" b="1">
                <a:solidFill>
                  <a:srgbClr val="3F88C5"/>
                </a:solidFill>
                <a:latin typeface="Aptos"/>
              </a:rPr>
              <a:t>Same core environment in every mode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2800" b="1">
                <a:solidFill>
                  <a:srgbClr val="182B45"/>
                </a:solidFill>
                <a:latin typeface="Aptos"/>
              </a:rPr>
              <a:t>Reliability, Limitations, and Future Work</a:t>
            </a:r>
          </a:p>
        </p:txBody>
      </p:sp>
      <p:sp>
        <p:nvSpPr>
          <p:cNvPr id="3" name="Rectangle 2"/>
          <p:cNvSpPr/>
          <p:nvPr/>
        </p:nvSpPr>
        <p:spPr>
          <a:xfrm>
            <a:off x="530352" y="859536"/>
            <a:ext cx="1051560" cy="54864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737360" y="731520"/>
            <a:ext cx="9509760" cy="25603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6778B"/>
                </a:solidFill>
                <a:latin typeface="Aptos"/>
              </a:rPr>
              <a:t>Measured claims and clear project boundaries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188720"/>
            <a:ext cx="3657600" cy="4526280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88720"/>
            <a:ext cx="73152" cy="4526280"/>
          </a:xfrm>
          <a:prstGeom prst="rect">
            <a:avLst/>
          </a:prstGeom>
          <a:solidFill>
            <a:srgbClr val="41A47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1316736"/>
            <a:ext cx="33375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Reliability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1691640"/>
            <a:ext cx="3337560" cy="395935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6778B"/>
                </a:solidFill>
                <a:latin typeface="Aptos"/>
              </a:rPr>
              <a:t>20 automated tests
Atomic checkpoint writes
Raw CSV and JSON
Saved seed/configuration
Included model lap test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79392" y="1188720"/>
            <a:ext cx="3657600" cy="4526280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79392" y="1188720"/>
            <a:ext cx="73152" cy="4526280"/>
          </a:xfrm>
          <a:prstGeom prst="rect">
            <a:avLst/>
          </a:prstGeom>
          <a:solidFill>
            <a:srgbClr val="D24A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80559" y="1316736"/>
            <a:ext cx="33375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Limitations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59" y="1691640"/>
            <a:ext cx="3337560" cy="395935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6778B"/>
                </a:solidFill>
                <a:latin typeface="Aptos"/>
              </a:rPr>
              <a:t>Fixed evaluation start
Medium/Hard use curriculum continuation
Simple educational physics
No temporal memory
Not real vehicle control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964424" y="1188720"/>
            <a:ext cx="3657600" cy="4526280"/>
          </a:xfrm>
          <a:prstGeom prst="roundRect">
            <a:avLst/>
          </a:prstGeom>
          <a:solidFill>
            <a:srgbClr val="ECF3F9"/>
          </a:solidFill>
          <a:ln>
            <a:solidFill>
              <a:srgbClr val="C9D8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964424" y="1188720"/>
            <a:ext cx="73152" cy="4526280"/>
          </a:xfrm>
          <a:prstGeom prst="rect">
            <a:avLst/>
          </a:prstGeom>
          <a:solidFill>
            <a:srgbClr val="3F88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65592" y="1316736"/>
            <a:ext cx="3337560" cy="329184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800" b="1">
                <a:solidFill>
                  <a:srgbClr val="182B45"/>
                </a:solidFill>
                <a:latin typeface="Aptos"/>
              </a:rPr>
              <a:t>Future 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65592" y="1691640"/>
            <a:ext cx="3337560" cy="3959352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1700" b="0">
                <a:solidFill>
                  <a:srgbClr val="66778B"/>
                </a:solidFill>
                <a:latin typeface="Aptos"/>
              </a:rPr>
              <a:t>From-scratch vs curriculum benchmarks
Randomized starts
Curriculum comparison
PPO comparison
Obstacles or camera input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510528"/>
            <a:ext cx="493776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900" b="0">
                <a:solidFill>
                  <a:srgbClr val="66778B"/>
                </a:solidFill>
                <a:latin typeface="Aptos"/>
              </a:rPr>
              <a:t>CSE440 | Self-Driving Car Racing Game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01400" y="6510528"/>
            <a:ext cx="411480" cy="201168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r"/>
            <a:r>
              <a:rPr sz="900" b="0">
                <a:solidFill>
                  <a:srgbClr val="66778B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82B4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621792"/>
            <a:ext cx="4754880" cy="50292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000" b="1">
                <a:solidFill>
                  <a:srgbClr val="97CDF6"/>
                </a:solidFill>
                <a:latin typeface="Aptos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417320"/>
            <a:ext cx="6492240" cy="114300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l"/>
            <a:r>
              <a:rPr sz="3100" b="1">
                <a:solidFill>
                  <a:srgbClr val="FFFFFF"/>
                </a:solidFill>
                <a:latin typeface="Aptos"/>
              </a:rPr>
              <a:t>A complete, explainable, CPU-friendly
reinforcement-learning project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49808" y="2880360"/>
            <a:ext cx="6492240" cy="2240280"/>
          </a:xfrm>
          <a:prstGeom prst="rect">
            <a:avLst/>
          </a:prstGeom>
          <a:noFill/>
        </p:spPr>
        <p:txBody>
          <a:bodyPr wrap="square" lIns="109728" rIns="45720">
            <a:spAutoFit/>
          </a:bodyPr>
          <a:lstStyle/>
          <a:p>
            <a:pPr>
              <a:spcAft>
                <a:spcPts val="1000"/>
              </a:spcAft>
              <a:defRPr sz="1900">
                <a:solidFill>
                  <a:srgbClr val="ECF3F9"/>
                </a:solidFill>
                <a:latin typeface="Aptos"/>
              </a:defRPr>
            </a:pPr>
            <a:r>
              <a:t>Full state -&gt; action -&gt; reward -&gt; replay -&gt; update pipeline</a:t>
            </a:r>
          </a:p>
          <a:p>
            <a:pPr>
              <a:spcAft>
                <a:spcPts val="1000"/>
              </a:spcAft>
              <a:defRPr sz="1900">
                <a:solidFill>
                  <a:srgbClr val="ECF3F9"/>
                </a:solidFill>
                <a:latin typeface="Aptos"/>
              </a:defRPr>
            </a:pPr>
            <a:r>
              <a:t>Validated checkpoints complete Easy, Medium, and Hard from their standard starts</a:t>
            </a:r>
          </a:p>
          <a:p>
            <a:pPr>
              <a:spcAft>
                <a:spcPts val="1000"/>
              </a:spcAft>
              <a:defRPr sz="1900">
                <a:solidFill>
                  <a:srgbClr val="ECF3F9"/>
                </a:solidFill>
                <a:latin typeface="Aptos"/>
              </a:defRPr>
            </a:pPr>
            <a:r>
              <a:t>Interactive Pygame app plus headless training/evaluation</a:t>
            </a:r>
          </a:p>
          <a:p>
            <a:pPr>
              <a:spcAft>
                <a:spcPts val="1000"/>
              </a:spcAft>
              <a:defRPr sz="1900">
                <a:solidFill>
                  <a:srgbClr val="ECF3F9"/>
                </a:solidFill>
                <a:latin typeface="Aptos"/>
              </a:defRPr>
            </a:pPr>
            <a:r>
              <a:t>Models, raw results, graphs, documentation, and tests included</a:t>
            </a:r>
          </a:p>
        </p:txBody>
      </p:sp>
      <p:pic>
        <p:nvPicPr>
          <p:cNvPr id="5" name="Picture 4" descr="eas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79" y="1115568"/>
            <a:ext cx="3886200" cy="258775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909560" y="4315968"/>
            <a:ext cx="3474720" cy="64008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ptos"/>
              </a:rPr>
              <a:t>Questions?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09560" y="5138928"/>
            <a:ext cx="3474720" cy="320040"/>
          </a:xfrm>
          <a:prstGeom prst="rect">
            <a:avLst/>
          </a:prstGeom>
          <a:noFill/>
        </p:spPr>
        <p:txBody>
          <a:bodyPr wrap="none" lIns="45720" rIns="45720" tIns="18288" bIns="18288" anchor="t">
            <a:spAutoFit/>
          </a:bodyPr>
          <a:lstStyle/>
          <a:p>
            <a:pPr algn="ctr"/>
            <a:r>
              <a:rPr sz="1300" b="0">
                <a:solidFill>
                  <a:srgbClr val="B1BECF"/>
                </a:solidFill>
                <a:latin typeface="Aptos"/>
              </a:rPr>
              <a:t>Add presenter names and IDs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CSE440 Self-Driving Car Racing Game - Presentation</dc:title>
  <dc:subject>Deep Q-Network reinforcement learning project</dc:subject>
  <dc:creator>CSE440 Project Team</dc:creator>
  <cp:keywords>CSE440, artificial intelligence, reinforcement learning, DQN, Pygame, PyTorch</cp:keywords>
  <dc:description>Generated from the completed project source and measured evaluation results.</dc:description>
  <cp:lastModifiedBy>CSE440 Project Team</cp:lastModifiedBy>
  <cp:revision>1</cp:revision>
  <dcterms:created xsi:type="dcterms:W3CDTF">2013-01-27T09:14:16Z</dcterms:created>
  <dcterms:modified xsi:type="dcterms:W3CDTF">2013-01-27T09:15:58Z</dcterms:modified>
  <cp:category/>
</cp:coreProperties>
</file>