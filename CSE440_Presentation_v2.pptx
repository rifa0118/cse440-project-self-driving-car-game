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108335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4C1"/>
                </a:solidFill>
                <a:latin typeface="Calibri"/>
              </a:rPr>
              <a:t>● CSE440 — INTELLIGENT SYSTEMS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D4ED8"/>
                </a:solidFill>
                <a:latin typeface="Calibri"/>
              </a:rPr>
              <a:t>Autonomous Self-Driving 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293B"/>
                </a:solidFill>
                <a:latin typeface="Calibri"/>
              </a:rPr>
              <a:t>with Deep Q-Learning (DQN)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Calibri"/>
              </a:rPr>
              <a:t>A Pygame-based 2D racing simulation where a Deep Q-Network agent learns
to navigate racetracks, avoid obstacles, and complete laps from scratch.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11094415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749039"/>
            <a:ext cx="1920240" cy="384048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7856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Rifa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3749039"/>
            <a:ext cx="1920240" cy="384048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79" y="37856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Abir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749039"/>
            <a:ext cx="1920240" cy="384048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7856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Istiaque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749039"/>
            <a:ext cx="1920240" cy="384048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7856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Miel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38912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407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  <a:latin typeface="Calibri"/>
              </a:rPr>
              <a:t>Python 3.13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38912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407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1"/>
                </a:solidFill>
                <a:latin typeface="Calibri"/>
              </a:rPr>
              <a:t>PyTorch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438912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4407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D28D9"/>
                </a:solidFill>
                <a:latin typeface="Calibri"/>
              </a:rPr>
              <a:t>Pygame 2.6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38912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407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8A4F"/>
                </a:solidFill>
                <a:latin typeface="Calibri"/>
              </a:rPr>
              <a:t>Double DQN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438912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4407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5A09"/>
                </a:solidFill>
                <a:latin typeface="Calibri"/>
              </a:rPr>
              <a:t>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Course Project  |  Brac University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2216671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749039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Calibri"/>
              </a:rPr>
              <a:t>🎯  Autonomous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How can a vehicle learn to navigate an unknown track without any hardcoded rules or human input?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737360"/>
            <a:ext cx="3749039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4C1"/>
                </a:solidFill>
                <a:latin typeface="Calibri"/>
              </a:rPr>
              <a:t>🚧  Obstacle Avoidance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How can the car detect &amp; respond to both static track walls and dynamic moving traffic vehicles?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737360"/>
            <a:ext cx="3749039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🧠  Learning from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Can a neural network learn an optimal driving policy using only numerical reward signals?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11064240" cy="868680"/>
          </a:xfrm>
          <a:prstGeom prst="rect">
            <a:avLst/>
          </a:prstGeom>
          <a:solidFill>
            <a:srgbClr val="F1F5F9"/>
          </a:solidFill>
          <a:ln w="1016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4C1"/>
                </a:solidFill>
                <a:latin typeface="Calibri"/>
              </a:rPr>
              <a:t>Our Approach: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177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Apply Deep Q-Network (DQN) Reinforcement Learning — the same algorithm that mastered Atari games — to train a car agent that drives itself around a racetrack with zero human-provided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3325007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How the System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834640" cy="3200400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🎮  Game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game/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2D Physics &amp; Kinematics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07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Track Generation (3 Levels)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912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Raycasting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753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Pygame Rendering &amp; HUD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593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Traffic Cars &amp; Collision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691640"/>
            <a:ext cx="2834640" cy="3200400"/>
          </a:xfrm>
          <a:prstGeom prst="rect">
            <a:avLst/>
          </a:prstGeom>
          <a:solidFill>
            <a:srgbClr val="F1F5F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🧠  DQN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ai/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423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MLP Q-Network (6→64→64→4)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807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Experience Replay Buffer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1912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Double-DQN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5753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ε-Greedy 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39593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Target Network Sync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1691640"/>
            <a:ext cx="2834640" cy="3200400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8A4F"/>
                </a:solidFill>
                <a:latin typeface="Calibri"/>
              </a:rPr>
              <a:t>⚙️  Config &amp; Utils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423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Central config.py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807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Reward shaping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1912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Training hyperparams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5753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Metric logging &amp; plots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9593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Reproducible seeding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1691640"/>
            <a:ext cx="2834640" cy="3200400"/>
          </a:xfrm>
          <a:prstGeom prst="rect">
            <a:avLst/>
          </a:prstGeom>
          <a:solidFill>
            <a:srgbClr val="F1F5F9"/>
          </a:solidFill>
          <a:ln w="1016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A09"/>
                </a:solidFill>
                <a:latin typeface="Calibri"/>
              </a:rPr>
              <a:t>🖥️  Modes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main.py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2423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Pygame Interactive GUI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2807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Headless Training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31912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Evaluation / 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5753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Live In-Game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39593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Manual Player Drive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029200"/>
            <a:ext cx="116128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main.py gui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→ Interactive Pygame 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0712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main.py train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6552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→ Headless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main.py evaluate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4344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→ Run pretrained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6296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main.py describe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2136" y="5120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→ Print config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4433343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Agent-Environment Training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36454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5486400"/>
            <a:ext cx="2240280" cy="1005840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Read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5925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5 ray distances + 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5486400"/>
            <a:ext cx="2240280" cy="1005840"/>
          </a:xfrm>
          <a:prstGeom prst="rect">
            <a:avLst/>
          </a:prstGeom>
          <a:solidFill>
            <a:srgbClr val="F1F5F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DQN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5925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Q-Network 6 -&gt; 64 -&gt; 64 -&gt;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5486400"/>
            <a:ext cx="2240280" cy="1005840"/>
          </a:xfrm>
          <a:prstGeom prst="rect">
            <a:avLst/>
          </a:prstGeom>
          <a:solidFill>
            <a:srgbClr val="F1F5F9"/>
          </a:solidFill>
          <a:ln w="1016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1"/>
                </a:solidFill>
                <a:latin typeface="Calibri"/>
              </a:rPr>
              <a:t>Choose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5925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left / right / straight / brake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3" y="5486400"/>
            <a:ext cx="2240280" cy="1005840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1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8A4F"/>
                </a:solidFill>
                <a:latin typeface="Calibri"/>
              </a:rPr>
              <a:t>Car 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1" y="5925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position, speed, angle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1512" y="5486400"/>
            <a:ext cx="2240280" cy="1005840"/>
          </a:xfrm>
          <a:prstGeom prst="rect">
            <a:avLst/>
          </a:prstGeom>
          <a:solidFill>
            <a:srgbClr val="F1F5F9"/>
          </a:solidFill>
          <a:ln w="1016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5A09"/>
                </a:solidFill>
                <a:latin typeface="Calibri"/>
              </a:rPr>
              <a:t>Reward + Replay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5925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store transition &amp; update 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5105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Repeat for thousands of steps until the driving policy converges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5541679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PERCEPTION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Sensors &amp; State Representation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577840" cy="3840480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4C1"/>
                </a:solidFill>
                <a:latin typeface="Calibri"/>
              </a:rPr>
              <a:t>🔦  Raycasting Lidar — 5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Five rays cast from the car's front bumper at fixed angles.
Each returns a normalized distance to the nearest wall or traffic 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07792"/>
            <a:ext cx="640080" cy="2743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9169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−90°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169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Left side sensor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5264"/>
            <a:ext cx="640080" cy="2743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2644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−45°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644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Front-left diagonal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02736"/>
            <a:ext cx="640080" cy="274320"/>
          </a:xfrm>
          <a:prstGeom prst="rect">
            <a:avLst/>
          </a:prstGeom>
          <a:solidFill>
            <a:srgbClr val="0284C1"/>
          </a:solidFill>
          <a:ln w="635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118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  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11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Forward sensor (main)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50208"/>
            <a:ext cx="640080" cy="2743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593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+45°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593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Front-right diagonal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97680"/>
            <a:ext cx="640080" cy="2743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3068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+90°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068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Right side sensor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45152"/>
            <a:ext cx="640080" cy="274320"/>
          </a:xfrm>
          <a:prstGeom prst="rect">
            <a:avLst/>
          </a:prstGeom>
          <a:solidFill>
            <a:srgbClr val="058A4F"/>
          </a:solidFill>
          <a:ln w="635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6542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6542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Normalized car speed v / v_max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691640"/>
            <a:ext cx="5760720" cy="3840480"/>
          </a:xfrm>
          <a:prstGeom prst="rect">
            <a:avLst/>
          </a:prstGeom>
          <a:solidFill>
            <a:srgbClr val="F1F5F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8105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📐  State Vector: 6 Dimensions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212848"/>
            <a:ext cx="5394960" cy="2606040"/>
          </a:xfrm>
          <a:prstGeom prst="rect">
            <a:avLst/>
          </a:prstGeom>
          <a:solidFill>
            <a:srgbClr val="060F1E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28600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4C1"/>
                </a:solidFill>
                <a:latin typeface="Calibri"/>
              </a:rPr>
              <a:t>state = [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8775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    d_-90°,   # left wall distance ∈ [0, 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88950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    d_-45°,   # front-left dist ∈ [0, 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19125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    d_0°,     # forward dist ∈ [0, 1]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49300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    d_+45°,   # front-right dist ∈ [0, 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947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    d_+90°,   # right wall dist ∈ [0, 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09651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    v/v_max   # normalized speed ∈ [0, 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9826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4C1"/>
                </a:solidFill>
                <a:latin typeface="Calibri"/>
              </a:rPr>
              <a:t>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892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A4F"/>
                </a:solidFill>
                <a:latin typeface="Calibri"/>
              </a:rPr>
              <a:t>⚡ Sensors also detect moving traffic cars (proximity &lt; 23px triggers hit)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6650015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RL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Deep Q-Network (Double DQN)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371600" cy="1280160"/>
          </a:xfrm>
          <a:prstGeom prst="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alibri"/>
              </a:rPr>
              <a:t>Input
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737360"/>
            <a:ext cx="1371600" cy="1280160"/>
          </a:xfrm>
          <a:prstGeom prst="rect">
            <a:avLst/>
          </a:prstGeom>
          <a:solidFill>
            <a:srgbClr val="F1F5F9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9202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28D9"/>
                </a:solidFill>
                <a:latin typeface="Calibri"/>
              </a:rPr>
              <a:t>Hidden
64 (ReLU)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737360"/>
            <a:ext cx="1371600" cy="1280160"/>
          </a:xfrm>
          <a:prstGeom prst="rect">
            <a:avLst/>
          </a:prstGeom>
          <a:solidFill>
            <a:srgbClr val="F1F5F9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9202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28D9"/>
                </a:solidFill>
                <a:latin typeface="Calibri"/>
              </a:rPr>
              <a:t>Hidden
64 (ReLU)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737360"/>
            <a:ext cx="1371600" cy="1280160"/>
          </a:xfrm>
          <a:prstGeom prst="rect">
            <a:avLst/>
          </a:prstGeom>
          <a:solidFill>
            <a:srgbClr val="F1F5F9"/>
          </a:solidFill>
          <a:ln w="1524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202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8A4F"/>
                </a:solidFill>
                <a:latin typeface="Calibri"/>
              </a:rPr>
              <a:t>Output
4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46120"/>
            <a:ext cx="6217920" cy="1691640"/>
          </a:xfrm>
          <a:prstGeom prst="rect">
            <a:avLst/>
          </a:prstGeom>
          <a:solidFill>
            <a:srgbClr val="F1F5F9"/>
          </a:solidFill>
          <a:ln w="1016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4C1"/>
                </a:solidFill>
                <a:latin typeface="Calibri"/>
              </a:rPr>
              <a:t>⚡  Double-DQN Update Rule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39"/>
            <a:ext cx="5852160" cy="320040"/>
          </a:xfrm>
          <a:prstGeom prst="rect">
            <a:avLst/>
          </a:prstGeom>
          <a:solidFill>
            <a:srgbClr val="060F1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6732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5A09"/>
                </a:solidFill>
                <a:latin typeface="Calibri"/>
              </a:rPr>
              <a:t>a* = argmax_a  Q_policy(s', 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96511"/>
            <a:ext cx="5852160" cy="320040"/>
          </a:xfrm>
          <a:prstGeom prst="rect">
            <a:avLst/>
          </a:prstGeom>
          <a:solidFill>
            <a:srgbClr val="060F1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11480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y  = r + γ · Q_target(s', a*)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43983"/>
            <a:ext cx="5852160" cy="320040"/>
          </a:xfrm>
          <a:prstGeom prst="rect">
            <a:avLst/>
          </a:prstGeom>
          <a:solidFill>
            <a:srgbClr val="060F1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6227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𝓛  = ( Q_policy(s, a) − y )²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91640"/>
            <a:ext cx="5120640" cy="3246120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18105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8A4F"/>
                </a:solidFill>
                <a:latin typeface="Calibri"/>
              </a:rPr>
              <a:t>💾  Hyperparameters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212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Learning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2128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1 × 10⁻³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4871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Discount 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487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0.99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761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Batch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7614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0358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Replay Buffer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0358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50,000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310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Target 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310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Every 600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584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Gradient Clip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3584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10.0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ε Start →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3858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1.0 → 0.05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13308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ε Decay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413308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45,000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4074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Hidden Size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407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64 neurons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6817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Optimizer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68172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1"/>
                </a:solidFill>
                <a:latin typeface="Calibri"/>
              </a:rPr>
              <a:t>Adam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5074920"/>
            <a:ext cx="512064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51937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5A09"/>
                </a:solidFill>
                <a:latin typeface="Calibri"/>
              </a:rPr>
              <a:t>🎲  ε-Greedy:  1.0 (ep 0)  →  0.50 (ep ~150)  →  0.05 (ep ~350+)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7758351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AGENT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Actions &amp; Reward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Calibri"/>
              </a:rPr>
              <a:t>🕹️  Action Space — 4 Discrete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260604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A[0]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⬅  Turn Left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2148840"/>
            <a:ext cx="260604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19" y="21945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A[1]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19" y="247802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➡  Turn Right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260604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8A4F"/>
                </a:solidFill>
                <a:latin typeface="Calibri"/>
              </a:rPr>
              <a:t>A[2]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0098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⬆  Straight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2971800"/>
            <a:ext cx="260604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19" y="3017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  <a:latin typeface="Calibri"/>
              </a:rPr>
              <a:t>A[3]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19" y="330098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🛑  Brake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5486400" cy="1371600"/>
          </a:xfrm>
          <a:prstGeom prst="rect">
            <a:avLst/>
          </a:prstGeom>
          <a:solidFill>
            <a:srgbClr val="F1F5F9"/>
          </a:solidFill>
          <a:ln w="762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A09"/>
                </a:solidFill>
                <a:latin typeface="Calibri"/>
              </a:rPr>
              <a:t>🚗  Vehicle Physics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074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Max Speed: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074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A09"/>
                </a:solidFill>
                <a:latin typeface="Calibri"/>
              </a:rPr>
              <a:t>7.0 px/frame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4074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Acceleration: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074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A09"/>
                </a:solidFill>
                <a:latin typeface="Calibri"/>
              </a:rPr>
              <a:t>0.20 px/f²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81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Brake Power: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681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A09"/>
                </a:solidFill>
                <a:latin typeface="Calibri"/>
              </a:rPr>
              <a:t>0.34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81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Friction: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681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A09"/>
                </a:solidFill>
                <a:latin typeface="Calibri"/>
              </a:rPr>
              <a:t>0.035/frame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560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Steer Rate: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9560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A09"/>
                </a:solidFill>
                <a:latin typeface="Calibri"/>
              </a:rPr>
              <a:t>4.2°/frame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560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Max Steps: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9560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A09"/>
                </a:solidFill>
                <a:latin typeface="Calibri"/>
              </a:rPr>
              <a:t>1,800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691640"/>
            <a:ext cx="5852160" cy="3657600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18105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8A4F"/>
                </a:solidFill>
                <a:latin typeface="Calibri"/>
              </a:rPr>
              <a:t>🏆  Reward Function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12848"/>
            <a:ext cx="5486400" cy="256032"/>
          </a:xfrm>
          <a:prstGeom prst="rect">
            <a:avLst/>
          </a:prstGeom>
          <a:solidFill>
            <a:srgbClr val="0A1424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2311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  Event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23113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Reward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514600"/>
            <a:ext cx="5486400" cy="329184"/>
          </a:xfrm>
          <a:prstGeom prst="rect">
            <a:avLst/>
          </a:prstGeom>
          <a:solidFill>
            <a:srgbClr val="0D1B2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54203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🟢  Forward driving (per speed ratio)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254203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58A4F"/>
                </a:solidFill>
                <a:latin typeface="Calibri"/>
              </a:rPr>
              <a:t>+1.0 / step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889504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🏁  Checkpoint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2889504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58A4F"/>
                </a:solidFill>
                <a:latin typeface="Calibri"/>
              </a:rPr>
              <a:t>+20.0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209544"/>
            <a:ext cx="5486400" cy="329184"/>
          </a:xfrm>
          <a:prstGeom prst="rect">
            <a:avLst/>
          </a:prstGeom>
          <a:solidFill>
            <a:srgbClr val="0D1B2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236976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🎉  Full lap completed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3236976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58A4F"/>
                </a:solidFill>
                <a:latin typeface="Calibri"/>
              </a:rPr>
              <a:t>+100.0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584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💥  Wall / traffic collision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358444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−100.0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904487"/>
            <a:ext cx="5486400" cy="329184"/>
          </a:xfrm>
          <a:prstGeom prst="rect">
            <a:avLst/>
          </a:prstGeom>
          <a:solidFill>
            <a:srgbClr val="0D1B2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931919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⬅️  Driving backwards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3931919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−10.0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27939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😴  Standing still / stuck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427939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−2.0 / step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599432"/>
            <a:ext cx="5486400" cy="329184"/>
          </a:xfrm>
          <a:prstGeom prst="rect">
            <a:avLst/>
          </a:prstGeom>
          <a:solidFill>
            <a:srgbClr val="0D1B2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4626864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🔄  Rapid L↔R oscillation chatter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8440" y="4626864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−0.25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8866687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TRACK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3 Procedurally Generated Racetracks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3749039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8A4F"/>
                </a:solidFill>
                <a:latin typeface="Calibri"/>
              </a:rPr>
              <a:t>🟢  Easy Track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8A4F"/>
                </a:solidFill>
                <a:latin typeface="Calibri"/>
              </a:rPr>
              <a:t>Oval Ellipse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Simple oval — wide road (116 px),
constant-radius turns.
Perfect for initial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13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Centerline: 500 × 320 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49039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10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5A09"/>
                </a:solidFill>
                <a:latin typeface="Calibri"/>
              </a:rPr>
              <a:t>🟡  Medium 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2212848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5A09"/>
                </a:solidFill>
                <a:latin typeface="Calibri"/>
              </a:rPr>
              <a:t>Wavy Ellipse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578608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Deformed ellipse with harmonic
radial variations — sinusoidal
curves challenge smooth steering.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913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Road width: 98 px | Radial mod: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691640"/>
            <a:ext cx="3749039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1810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🔴  Hard Track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21624" y="2212848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Complex Curve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578608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Biaxial radial distortions — narrow
road (84 px), twisty circuit.
Demands precise timing.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913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Road width: 84 px | Dual-axis mod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46320"/>
            <a:ext cx="1179576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56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1"/>
                </a:solidFill>
                <a:latin typeface="Calibri"/>
              </a:rPr>
              <a:t>🗺️  Track Asset Generation Pipeline: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Spline Centerline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Boundaries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8464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Grass (PIL)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Asphalt + Curbs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Checkerboard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Dashed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1" y="5029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8A4F"/>
                </a:solidFill>
                <a:latin typeface="Calibri"/>
              </a:rPr>
              <a:t>→  PNG + Mask + JSON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975023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The Game in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6949440" cy="379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7190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🎮  Interactive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103120"/>
            <a:ext cx="45262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13969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🕹️  Manual 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39572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Arrow key control of the car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761487"/>
            <a:ext cx="45262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798063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🤖  Watch Trained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054095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Greedy ε = 0 policy, no exploration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3419856"/>
            <a:ext cx="45262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4564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📈  Train AI (Live)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1246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Observe the car learn in real-time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4078224"/>
            <a:ext cx="45262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41148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📊  Evaluate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7083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Benchmark statistics &amp;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736592"/>
            <a:ext cx="45262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773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⚙️ 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02920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Change track layout &amp; car colour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5532120"/>
            <a:ext cx="4526280" cy="594360"/>
          </a:xfrm>
          <a:prstGeom prst="rect">
            <a:avLst/>
          </a:prstGeom>
          <a:solidFill>
            <a:srgbClr val="F1F5F9"/>
          </a:solidFill>
          <a:ln w="762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6235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8A4F"/>
                </a:solidFill>
                <a:latin typeface="Calibri"/>
              </a:rPr>
              <a:t>🚦  Traffic: 3 cars at 2.0 px/frame — sensors detect them within 23 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3550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Pretrained DQN agent — Easy track, sensors visible (blue rays), reward = 204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1083359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Training Performance &amp;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ward_per_epis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5623560" cy="30929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3492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Reward per Episode — agent clearly improves from episode ~200 onwards</a:t>
            </a:r>
          </a:p>
        </p:txBody>
      </p:sp>
      <p:pic>
        <p:nvPicPr>
          <p:cNvPr id="10" name="Picture 9" descr="lap_time_per_epis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669280" cy="3118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349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Lap Time — converging from ~6.2 s toward ~5.2 s optimal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269748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15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4ED8"/>
                </a:solidFill>
                <a:latin typeface="Calibri"/>
              </a:rPr>
              <a:t>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8978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Training Episodes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5760720"/>
            <a:ext cx="269748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5815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58A4F"/>
                </a:solidFill>
                <a:latin typeface="Calibri"/>
              </a:rPr>
              <a:t>~5.2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58978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Best Lap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5760720"/>
            <a:ext cx="269748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5815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D28D9"/>
                </a:solidFill>
                <a:latin typeface="Calibri"/>
              </a:rPr>
              <a:t>700+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58978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Peak Episode Reward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90304" y="5760720"/>
            <a:ext cx="269748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5815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45A09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0464" y="58978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Difficulty Levels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1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4ED8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486400" cy="3474720"/>
          </a:xfrm>
          <a:prstGeom prst="rect">
            <a:avLst/>
          </a:prstGeom>
          <a:solidFill>
            <a:srgbClr val="F1F5F9"/>
          </a:solidFill>
          <a:ln w="10160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8A4F"/>
                </a:solidFill>
                <a:latin typeface="Calibri"/>
              </a:rPr>
              <a:t>✅  What We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DQN agent successfully learns autonomous lap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24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Real-time traffic avoidance with dynamic sensor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083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3 track difficulty levels with procedural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924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Full Pygame interactive GUI with 4 operating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76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Modular testable Python codebase (12 test modules)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Pre-trained models for Easy, Medium &amp; Hard tracks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44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✓  Comprehensive documentation &amp; academic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49240"/>
            <a:ext cx="5486400" cy="1234440"/>
          </a:xfrm>
          <a:prstGeom prst="rect">
            <a:avLst/>
          </a:prstGeom>
          <a:solidFill>
            <a:srgbClr val="F1F5F9"/>
          </a:solidFill>
          <a:ln w="1016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68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A09"/>
                </a:solidFill>
                <a:latin typeface="Calibri"/>
              </a:rPr>
              <a:t>🔮  Future Improvements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887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Prioritized Experience Replay (PER)  •  Dueling DQN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630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PPO / A2C continuous action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Multi-agent competitive racing  •  Visual pixel input</a:t>
            </a:r>
          </a:p>
        </p:txBody>
      </p:sp>
      <p:pic>
        <p:nvPicPr>
          <p:cNvPr id="22" name="Picture 2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852160" cy="202874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989320" y="5212080"/>
            <a:ext cx="5852160" cy="1371600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53218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650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4C1"/>
                </a:solidFill>
                <a:latin typeface="Calibri"/>
              </a:rPr>
              <a:t>github.com/rifa0118/CSE440-project-self-driving-car-game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608076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6099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  <a:latin typeface="Calibri"/>
              </a:rPr>
              <a:t>PyTorch 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608076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028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6099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1"/>
                </a:solidFill>
                <a:latin typeface="Calibri"/>
              </a:rPr>
              <a:t>Pygame 2.6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608076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6099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D28D9"/>
                </a:solidFill>
                <a:latin typeface="Calibri"/>
              </a:rPr>
              <a:t>Python 3.13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6080760"/>
            <a:ext cx="100584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05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6099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8A4F"/>
                </a:solidFill>
                <a:latin typeface="Calibri"/>
              </a:rPr>
              <a:t>Double DQN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49224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75569"/>
                </a:solidFill>
                <a:latin typeface="Calibri"/>
              </a:rPr>
              <a:t>Thank You! --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